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9" r:id="rId2"/>
    <p:sldId id="257" r:id="rId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66931308-3F84-F0E0-FAB9-341425D1F02C}">
          <p14:sldIdLst>
            <p14:sldId id="259"/>
          </p14:sldIdLst>
        </p14:section>
        <p14:section name="Architecture" id="{D71CD796-218E-F897-B963-D0B7D50ED264}">
          <p14:sldIdLst>
            <p14:sldId id="257"/>
          </p14:sldIdLst>
        </p14:section>
        <p14:section name="AI backends and data" id="{DE6F5C23-905D-9D6E-0B66-E678488E826D}">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6" d="100"/>
          <a:sy n="66" d="100"/>
        </p:scale>
        <p:origin x="293" y="-18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3481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WF Meta turns Meta smart glasses into a relationship manager's assistant. Three jobs: recognise the customer from the live camera stream, read a document the RM looks at, and answer spoken questions about either. Everything is spoken back through the glasses speaker, so the RM keeps eye contact with the customer instead of looking at a screen. Customer data in this demo is fictional.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glasses stream video, capture photos and carry audio. Middle: the phone recognises faces and reads document text itself; only text is sent on. Right: the Jetson gateway answers using local Gemma 3 by default, or Meta's Muse Spark 1.1 when AI_BACKEND is set to muse. The phone app is identical in both modes.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F Title">
    <p:bg>
      <p:bgPr>
        <a:solidFill>
          <a:schemeClr val="accent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914400"/>
            <a:ext cx="6949440" cy="1188720"/>
          </a:xfrm>
          <a:prstGeom prst="rect">
            <a:avLst/>
          </a:prstGeom>
          <a:noFill/>
          <a:ln/>
        </p:spPr>
        <p:txBody>
          <a:bodyPr wrap="square" rtlCol="0"/>
          <a:lstStyle>
            <a:lvl1pPr marL="0" indent="0" algn="l">
              <a:buNone/>
              <a:defRPr lang="en-US" sz="5400" b="1" dirty="0">
                <a:solidFill>
                  <a:schemeClr val="bg1"/>
                </a:solidFill>
              </a:defRPr>
            </a:lvl1pPr>
          </a:lstStyle>
          <a:p>
            <a:pPr marL="0" indent="0" algn="l">
              <a:buNone/>
            </a:pPr>
            <a:endParaRPr lang="en-US" sz="5400" dirty="0"/>
          </a:p>
        </p:txBody>
      </p:sp>
      <p:sp>
        <p:nvSpPr>
          <p:cNvPr id="3" name="Text 0"/>
          <p:cNvSpPr>
            <a:spLocks noGrp="1"/>
          </p:cNvSpPr>
          <p:nvPr>
            <p:ph type="body" idx="101" hasCustomPrompt="1"/>
          </p:nvPr>
        </p:nvSpPr>
        <p:spPr>
          <a:xfrm>
            <a:off x="640080" y="2240280"/>
            <a:ext cx="6035040" cy="914400"/>
          </a:xfrm>
          <a:prstGeom prst="rect">
            <a:avLst/>
          </a:prstGeom>
          <a:noFill/>
          <a:ln/>
        </p:spPr>
        <p:txBody>
          <a:bodyPr wrap="square" rtlCol="0"/>
          <a:lstStyle>
            <a:lvl1pPr marL="0" indent="0">
              <a:buNone/>
              <a:defRPr lang="en-US" sz="2000" dirty="0">
                <a:solidFill>
                  <a:schemeClr val="bg1"/>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F Title Only">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68580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3" name="Text 0"/>
          <p:cNvSpPr/>
          <p:nvPr/>
        </p:nvSpPr>
        <p:spPr>
          <a:xfrm>
            <a:off x="548640" y="6400800"/>
            <a:ext cx="3657600" cy="274320"/>
          </a:xfrm>
          <a:prstGeom prst="rect">
            <a:avLst/>
          </a:prstGeom>
          <a:noFill/>
          <a:ln/>
        </p:spPr>
        <p:txBody>
          <a:bodyPr wrap="square" lIns="0" tIns="0" rIns="0" bIns="0" rtlCol="0" anchor="ctr"/>
          <a:lstStyle/>
          <a:p>
            <a:pPr marL="0" indent="0">
              <a:buNone/>
            </a:pPr>
            <a:r>
              <a:rPr lang="en-US" sz="1000" dirty="0">
                <a:solidFill>
                  <a:schemeClr val="accent3"/>
                </a:solidFill>
              </a:rPr>
              <a:t>WF Meta · October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body">
    <p:bg>
      <p:bgPr>
        <a:solidFill>
          <a:srgbClr val="C41E2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63412"/>
            <a:ext cx="10566400" cy="1484313"/>
          </a:xfrm>
          <a:prstGeom prst="rect">
            <a:avLst/>
          </a:prstGeom>
          <a:noFill/>
          <a:ln/>
        </p:spPr>
        <p:txBody>
          <a:bodyPr wrap="square" lIns="0" tIns="0" rIns="0" bIns="0" rtlCol="0" anchor="t"/>
          <a:lstStyle>
            <a:lvl1pPr marL="0" indent="0" algn="l">
              <a:lnSpc>
                <a:spcPct val="110000"/>
              </a:lnSpc>
              <a:buNone/>
              <a:defRPr lang="en-US" sz="5583" dirty="0">
                <a:solidFill>
                  <a:srgbClr val="FFF8F2"/>
                </a:solidFill>
                <a:latin typeface="IBM Plex Sans" pitchFamily="34" charset="0"/>
                <a:ea typeface="IBM Plex Sans" pitchFamily="34" charset="-122"/>
                <a:cs typeface="IBM Plex Sans" pitchFamily="34" charset="-120"/>
              </a:defRPr>
            </a:lvl1pPr>
          </a:lstStyle>
          <a:p>
            <a:pPr marL="0" indent="0" algn="l">
              <a:lnSpc>
                <a:spcPct val="110000"/>
              </a:lnSpc>
              <a:buNone/>
            </a:pPr>
            <a:endParaRPr lang="en-US" sz="5583" dirty="0"/>
          </a:p>
        </p:txBody>
      </p:sp>
      <p:sp>
        <p:nvSpPr>
          <p:cNvPr id="3" name="Text Placeholder 2"/>
          <p:cNvSpPr>
            <a:spLocks noGrp="1"/>
          </p:cNvSpPr>
          <p:nvPr>
            <p:ph type="body" idx="101"/>
          </p:nvPr>
        </p:nvSpPr>
        <p:spPr>
          <a:xfrm>
            <a:off x="812800" y="3052524"/>
            <a:ext cx="10566400" cy="2992676"/>
          </a:xfrm>
          <a:prstGeom prst="rect">
            <a:avLst/>
          </a:prstGeom>
          <a:noFill/>
          <a:ln/>
        </p:spPr>
        <p:txBody>
          <a:bodyPr wrap="square" lIns="0" tIns="0" rIns="0" bIns="0" rtlCol="0" anchor="t"/>
          <a:lstStyle>
            <a:lvl1pPr marL="0" indent="0" algn="l">
              <a:lnSpc>
                <a:spcPct val="140000"/>
              </a:lnSpc>
              <a:buNone/>
              <a:defRPr lang="en-US" sz="1600" dirty="0">
                <a:solidFill>
                  <a:srgbClr val="FFF8F2"/>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07647170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01600"/>
          </a:xfrm>
          <a:prstGeom prst="rect">
            <a:avLst/>
          </a:prstGeom>
          <a:solidFill>
            <a:srgbClr val="F2B52E"/>
          </a:solidFill>
          <a:ln/>
        </p:spPr>
      </p:sp>
      <p:sp>
        <p:nvSpPr>
          <p:cNvPr id="4" name="Text 2"/>
          <p:cNvSpPr>
            <a:spLocks noGrp="1"/>
          </p:cNvSpPr>
          <p:nvPr>
            <p:ph type="title"/>
          </p:nvPr>
        </p:nvSpPr>
        <p:spPr>
          <a:xfrm>
            <a:off x="812800" y="1263412"/>
            <a:ext cx="10883392" cy="1509713"/>
          </a:xfrm>
          <a:prstGeom prst="rect">
            <a:avLst/>
          </a:prstGeom>
          <a:noFill/>
          <a:ln/>
        </p:spPr>
        <p:txBody>
          <a:bodyPr wrap="square" lIns="0" tIns="0" rIns="0" bIns="0" rtlCol="0" anchor="t">
            <a:normAutofit/>
          </a:bodyPr>
          <a:lstStyle/>
          <a:p>
            <a:pPr marL="0" indent="0" algn="l">
              <a:lnSpc>
                <a:spcPts val="5862"/>
              </a:lnSpc>
              <a:buNone/>
            </a:pPr>
            <a:r>
              <a:rPr lang="en-US" sz="5583" b="1" i="0" kern="0" spc="-100" dirty="0">
                <a:solidFill>
                  <a:srgbClr val="FFF8F2"/>
                </a:solidFill>
                <a:latin typeface="IBM Plex Sans" pitchFamily="34" charset="0"/>
                <a:ea typeface="IBM Plex Sans" pitchFamily="34" charset="-122"/>
                <a:cs typeface="IBM Plex Sans" pitchFamily="34" charset="-120"/>
              </a:rPr>
              <a:t>A hands-free banking assistant</a:t>
            </a:r>
            <a:endParaRPr lang="en-US" sz="5583" dirty="0"/>
          </a:p>
          <a:p>
            <a:pPr marL="0" indent="0" algn="l">
              <a:lnSpc>
                <a:spcPts val="5862"/>
              </a:lnSpc>
              <a:buNone/>
            </a:pPr>
            <a:r>
              <a:rPr lang="en-US" sz="5583" b="1" i="0" kern="0" spc="-100" dirty="0">
                <a:solidFill>
                  <a:srgbClr val="FFF8F2"/>
                </a:solidFill>
                <a:latin typeface="IBM Plex Sans" pitchFamily="34" charset="0"/>
                <a:ea typeface="IBM Plex Sans" pitchFamily="34" charset="-122"/>
                <a:cs typeface="IBM Plex Sans" pitchFamily="34" charset="-120"/>
              </a:rPr>
              <a:t>on Meta smart glasses</a:t>
            </a:r>
            <a:endParaRPr lang="en-US" sz="5583" dirty="0"/>
          </a:p>
        </p:txBody>
      </p:sp>
      <p:sp>
        <p:nvSpPr>
          <p:cNvPr id="5" name="Text 3"/>
          <p:cNvSpPr/>
          <p:nvPr/>
        </p:nvSpPr>
        <p:spPr>
          <a:xfrm>
            <a:off x="812800" y="2950924"/>
            <a:ext cx="8502650" cy="979646"/>
          </a:xfrm>
          <a:prstGeom prst="rect">
            <a:avLst/>
          </a:prstGeom>
          <a:noFill/>
          <a:ln/>
        </p:spPr>
        <p:txBody>
          <a:bodyPr wrap="square" lIns="0" tIns="0" rIns="0" bIns="0" rtlCol="0" anchor="t">
            <a:normAutofit/>
          </a:bodyPr>
          <a:lstStyle/>
          <a:p>
            <a:pPr marL="0" indent="0" algn="l">
              <a:lnSpc>
                <a:spcPts val="2504"/>
              </a:lnSpc>
              <a:buNone/>
            </a:pPr>
            <a:r>
              <a:rPr lang="en-US" sz="1789" dirty="0">
                <a:solidFill>
                  <a:srgbClr val="FFE1DC"/>
                </a:solidFill>
                <a:latin typeface="IBM Plex Sans" pitchFamily="34" charset="0"/>
                <a:ea typeface="IBM Plex Sans" pitchFamily="34" charset="-122"/>
                <a:cs typeface="IBM Plex Sans" pitchFamily="34" charset="-120"/>
              </a:rPr>
              <a:t>The relationship manager looks, asks and listens. The glasses recognise the customer, read documents and answer questions, spoken back through the glasses speaker.</a:t>
            </a:r>
            <a:endParaRPr lang="en-US" sz="1789" dirty="0"/>
          </a:p>
        </p:txBody>
      </p:sp>
      <p:sp>
        <p:nvSpPr>
          <p:cNvPr id="6" name="Shape 4"/>
          <p:cNvSpPr/>
          <p:nvPr/>
        </p:nvSpPr>
        <p:spPr>
          <a:xfrm>
            <a:off x="812800" y="4209971"/>
            <a:ext cx="3386614" cy="1632029"/>
          </a:xfrm>
          <a:prstGeom prst="roundRect">
            <a:avLst>
              <a:gd name="adj" fmla="val 6225"/>
            </a:avLst>
          </a:prstGeom>
          <a:solidFill>
            <a:srgbClr val="A3172A"/>
          </a:solidFill>
          <a:ln/>
        </p:spPr>
      </p:sp>
      <p:sp>
        <p:nvSpPr>
          <p:cNvPr id="7" name="Shape 5"/>
          <p:cNvSpPr/>
          <p:nvPr/>
        </p:nvSpPr>
        <p:spPr>
          <a:xfrm>
            <a:off x="812800" y="4209971"/>
            <a:ext cx="3386614" cy="1632029"/>
          </a:xfrm>
          <a:custGeom>
            <a:avLst/>
            <a:gdLst/>
            <a:ahLst/>
            <a:cxnLst/>
            <a:rect l="l" t="t" r="r" b="b"/>
            <a:pathLst>
              <a:path w="3386614" h="1632029">
                <a:moveTo>
                  <a:pt x="0" y="101600"/>
                </a:moveTo>
                <a:lnTo>
                  <a:pt x="0" y="101600"/>
                </a:lnTo>
                <a:arcTo wR="101600" hR="101600" stAng="10800000" swAng="5400000"/>
                <a:lnTo>
                  <a:pt x="3285014" y="0"/>
                </a:lnTo>
                <a:arcTo wR="101600" hR="101600" stAng="16200000" swAng="5400000"/>
                <a:lnTo>
                  <a:pt x="3386614" y="101600"/>
                </a:lnTo>
                <a:arcTo wR="101600" hR="63500" stAng="0" swAng="-5400000"/>
                <a:lnTo>
                  <a:pt x="101600" y="38100"/>
                </a:lnTo>
                <a:arcTo wR="101600" hR="63500" stAng="16200000" swAng="-5400000"/>
                <a:close/>
              </a:path>
            </a:pathLst>
          </a:custGeom>
          <a:solidFill>
            <a:srgbClr val="F2B52E"/>
          </a:solidFill>
          <a:ln/>
        </p:spPr>
      </p:sp>
      <p:sp>
        <p:nvSpPr>
          <p:cNvPr id="8" name="Text 6"/>
          <p:cNvSpPr/>
          <p:nvPr/>
        </p:nvSpPr>
        <p:spPr>
          <a:xfrm>
            <a:off x="1066800" y="4499531"/>
            <a:ext cx="296497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FF8F2"/>
                </a:solidFill>
                <a:latin typeface="IBM Plex Sans" pitchFamily="34" charset="0"/>
                <a:ea typeface="IBM Plex Sans" pitchFamily="34" charset="-122"/>
                <a:cs typeface="IBM Plex Sans" pitchFamily="34" charset="-120"/>
              </a:rPr>
              <a:t>Know the customer</a:t>
            </a:r>
            <a:endParaRPr lang="en-US" sz="1800" dirty="0"/>
          </a:p>
        </p:txBody>
      </p:sp>
      <p:sp>
        <p:nvSpPr>
          <p:cNvPr id="9" name="Text 7"/>
          <p:cNvSpPr/>
          <p:nvPr/>
        </p:nvSpPr>
        <p:spPr>
          <a:xfrm>
            <a:off x="1066800" y="4850051"/>
            <a:ext cx="296497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D9D3"/>
                </a:solidFill>
                <a:latin typeface="IBM Plex Sans" pitchFamily="34" charset="0"/>
                <a:ea typeface="IBM Plex Sans" pitchFamily="34" charset="-122"/>
                <a:cs typeface="IBM Plex Sans" pitchFamily="34" charset="-120"/>
              </a:rPr>
              <a:t>On-phone face match pulls up the profile, accounts and history</a:t>
            </a:r>
            <a:endParaRPr lang="en-US" sz="1400" dirty="0"/>
          </a:p>
        </p:txBody>
      </p:sp>
      <p:sp>
        <p:nvSpPr>
          <p:cNvPr id="10" name="Shape 8"/>
          <p:cNvSpPr/>
          <p:nvPr/>
        </p:nvSpPr>
        <p:spPr>
          <a:xfrm>
            <a:off x="4402614" y="4209971"/>
            <a:ext cx="3386693" cy="1632029"/>
          </a:xfrm>
          <a:prstGeom prst="roundRect">
            <a:avLst>
              <a:gd name="adj" fmla="val 6225"/>
            </a:avLst>
          </a:prstGeom>
          <a:solidFill>
            <a:srgbClr val="A3172A"/>
          </a:solidFill>
          <a:ln/>
        </p:spPr>
      </p:sp>
      <p:sp>
        <p:nvSpPr>
          <p:cNvPr id="11" name="Shape 9"/>
          <p:cNvSpPr/>
          <p:nvPr/>
        </p:nvSpPr>
        <p:spPr>
          <a:xfrm>
            <a:off x="4402614" y="4209971"/>
            <a:ext cx="3386693" cy="1632029"/>
          </a:xfrm>
          <a:custGeom>
            <a:avLst/>
            <a:gdLst/>
            <a:ahLst/>
            <a:cxnLst/>
            <a:rect l="l" t="t" r="r" b="b"/>
            <a:pathLst>
              <a:path w="3386693" h="1632029">
                <a:moveTo>
                  <a:pt x="0" y="101600"/>
                </a:moveTo>
                <a:lnTo>
                  <a:pt x="0" y="101600"/>
                </a:lnTo>
                <a:arcTo wR="101600" hR="101600" stAng="10800000" swAng="5400000"/>
                <a:lnTo>
                  <a:pt x="3285093" y="0"/>
                </a:lnTo>
                <a:arcTo wR="101600" hR="101600" stAng="16200000" swAng="5400000"/>
                <a:lnTo>
                  <a:pt x="3386693" y="101600"/>
                </a:lnTo>
                <a:arcTo wR="101600" hR="63500" stAng="0" swAng="-5400000"/>
                <a:lnTo>
                  <a:pt x="101600" y="38100"/>
                </a:lnTo>
                <a:arcTo wR="101600" hR="63500" stAng="16200000" swAng="-5400000"/>
                <a:close/>
              </a:path>
            </a:pathLst>
          </a:custGeom>
          <a:solidFill>
            <a:srgbClr val="F2B52E"/>
          </a:solidFill>
          <a:ln/>
        </p:spPr>
      </p:sp>
      <p:sp>
        <p:nvSpPr>
          <p:cNvPr id="12" name="Text 10"/>
          <p:cNvSpPr/>
          <p:nvPr/>
        </p:nvSpPr>
        <p:spPr>
          <a:xfrm>
            <a:off x="4656614" y="4499531"/>
            <a:ext cx="2965054" cy="297339"/>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FF8F2"/>
                </a:solidFill>
                <a:latin typeface="IBM Plex Sans" pitchFamily="34" charset="0"/>
                <a:ea typeface="IBM Plex Sans" pitchFamily="34" charset="-122"/>
                <a:cs typeface="IBM Plex Sans" pitchFamily="34" charset="-120"/>
              </a:rPr>
              <a:t>Read the paperwork</a:t>
            </a:r>
            <a:endParaRPr lang="en-US" sz="1800" dirty="0"/>
          </a:p>
        </p:txBody>
      </p:sp>
      <p:sp>
        <p:nvSpPr>
          <p:cNvPr id="13" name="Text 11"/>
          <p:cNvSpPr/>
          <p:nvPr/>
        </p:nvSpPr>
        <p:spPr>
          <a:xfrm>
            <a:off x="4656614" y="4847670"/>
            <a:ext cx="2965054" cy="765731"/>
          </a:xfrm>
          <a:prstGeom prst="rect">
            <a:avLst/>
          </a:prstGeom>
          <a:noFill/>
          <a:ln/>
        </p:spPr>
        <p:txBody>
          <a:bodyPr wrap="square" lIns="0" tIns="0" rIns="0" bIns="0" rtlCol="0" anchor="t">
            <a:normAutofit/>
          </a:bodyPr>
          <a:lstStyle/>
          <a:p>
            <a:pPr marL="0" indent="0" algn="l">
              <a:lnSpc>
                <a:spcPts val="1954"/>
              </a:lnSpc>
              <a:buNone/>
            </a:pPr>
            <a:r>
              <a:rPr lang="en-US" sz="1396" dirty="0">
                <a:solidFill>
                  <a:srgbClr val="FFD9D3"/>
                </a:solidFill>
                <a:latin typeface="IBM Plex Sans" pitchFamily="34" charset="0"/>
                <a:ea typeface="IBM Plex Sans" pitchFamily="34" charset="-122"/>
                <a:cs typeface="IBM Plex Sans" pitchFamily="34" charset="-120"/>
              </a:rPr>
              <a:t>“Hey Meta, scan” captures a document; summary, risk flags and actions follow</a:t>
            </a:r>
            <a:endParaRPr lang="en-US" sz="1396" dirty="0"/>
          </a:p>
        </p:txBody>
      </p:sp>
      <p:sp>
        <p:nvSpPr>
          <p:cNvPr id="14" name="Shape 12"/>
          <p:cNvSpPr/>
          <p:nvPr/>
        </p:nvSpPr>
        <p:spPr>
          <a:xfrm>
            <a:off x="7992507" y="4209971"/>
            <a:ext cx="3386693" cy="1632029"/>
          </a:xfrm>
          <a:prstGeom prst="roundRect">
            <a:avLst>
              <a:gd name="adj" fmla="val 6225"/>
            </a:avLst>
          </a:prstGeom>
          <a:solidFill>
            <a:srgbClr val="A3172A"/>
          </a:solidFill>
          <a:ln/>
        </p:spPr>
      </p:sp>
      <p:sp>
        <p:nvSpPr>
          <p:cNvPr id="15" name="Shape 13"/>
          <p:cNvSpPr/>
          <p:nvPr/>
        </p:nvSpPr>
        <p:spPr>
          <a:xfrm>
            <a:off x="7992507" y="4209971"/>
            <a:ext cx="3386693" cy="1632029"/>
          </a:xfrm>
          <a:custGeom>
            <a:avLst/>
            <a:gdLst/>
            <a:ahLst/>
            <a:cxnLst/>
            <a:rect l="l" t="t" r="r" b="b"/>
            <a:pathLst>
              <a:path w="3386693" h="1632029">
                <a:moveTo>
                  <a:pt x="0" y="101600"/>
                </a:moveTo>
                <a:lnTo>
                  <a:pt x="0" y="101600"/>
                </a:lnTo>
                <a:arcTo wR="101600" hR="101600" stAng="10800000" swAng="5400000"/>
                <a:lnTo>
                  <a:pt x="3285093" y="0"/>
                </a:lnTo>
                <a:arcTo wR="101600" hR="101600" stAng="16200000" swAng="5400000"/>
                <a:lnTo>
                  <a:pt x="3386693" y="101600"/>
                </a:lnTo>
                <a:arcTo wR="101600" hR="63500" stAng="0" swAng="-5400000"/>
                <a:lnTo>
                  <a:pt x="101600" y="38100"/>
                </a:lnTo>
                <a:arcTo wR="101600" hR="63500" stAng="16200000" swAng="-5400000"/>
                <a:close/>
              </a:path>
            </a:pathLst>
          </a:custGeom>
          <a:solidFill>
            <a:srgbClr val="F2B52E"/>
          </a:solidFill>
          <a:ln/>
        </p:spPr>
      </p:sp>
      <p:sp>
        <p:nvSpPr>
          <p:cNvPr id="16" name="Text 14"/>
          <p:cNvSpPr/>
          <p:nvPr/>
        </p:nvSpPr>
        <p:spPr>
          <a:xfrm>
            <a:off x="8246507" y="4499531"/>
            <a:ext cx="2965054" cy="297339"/>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FF8F2"/>
                </a:solidFill>
                <a:latin typeface="IBM Plex Sans" pitchFamily="34" charset="0"/>
                <a:ea typeface="IBM Plex Sans" pitchFamily="34" charset="-122"/>
                <a:cs typeface="IBM Plex Sans" pitchFamily="34" charset="-120"/>
              </a:rPr>
              <a:t>Answer by voice</a:t>
            </a:r>
            <a:endParaRPr lang="en-US" sz="1800" dirty="0"/>
          </a:p>
        </p:txBody>
      </p:sp>
      <p:sp>
        <p:nvSpPr>
          <p:cNvPr id="17" name="Text 15"/>
          <p:cNvSpPr/>
          <p:nvPr/>
        </p:nvSpPr>
        <p:spPr>
          <a:xfrm>
            <a:off x="8246507" y="4847670"/>
            <a:ext cx="2965054" cy="765731"/>
          </a:xfrm>
          <a:prstGeom prst="rect">
            <a:avLst/>
          </a:prstGeom>
          <a:noFill/>
          <a:ln/>
        </p:spPr>
        <p:txBody>
          <a:bodyPr wrap="square" lIns="0" tIns="0" rIns="0" bIns="0" rtlCol="0" anchor="t">
            <a:normAutofit/>
          </a:bodyPr>
          <a:lstStyle/>
          <a:p>
            <a:pPr marL="0" indent="0" algn="l">
              <a:lnSpc>
                <a:spcPts val="1954"/>
              </a:lnSpc>
              <a:buNone/>
            </a:pPr>
            <a:r>
              <a:rPr lang="en-US" sz="1396" dirty="0">
                <a:solidFill>
                  <a:srgbClr val="FFD9D3"/>
                </a:solidFill>
                <a:latin typeface="IBM Plex Sans" pitchFamily="34" charset="0"/>
                <a:ea typeface="IBM Plex Sans" pitchFamily="34" charset="-122"/>
                <a:cs typeface="IBM Plex Sans" pitchFamily="34" charset="-120"/>
              </a:rPr>
              <a:t>Ask about the customer or the document, with up to 8 turns of follow-up</a:t>
            </a:r>
            <a:endParaRPr lang="en-US" sz="1396" dirty="0"/>
          </a:p>
        </p:txBody>
      </p:sp>
      <p:sp>
        <p:nvSpPr>
          <p:cNvPr id="18" name="Text 16"/>
          <p:cNvSpPr/>
          <p:nvPr/>
        </p:nvSpPr>
        <p:spPr>
          <a:xfrm>
            <a:off x="812800" y="623824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D0C9"/>
                </a:solidFill>
                <a:latin typeface="IBM Plex Sans" pitchFamily="34" charset="0"/>
                <a:ea typeface="IBM Plex Sans" pitchFamily="34" charset="-122"/>
                <a:cs typeface="IBM Plex Sans" pitchFamily="34" charset="-120"/>
              </a:rPr>
              <a:t>Meta glasses → Android phone → NVIDIA Jetson Orin Nano · Updated Oct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685800"/>
          </a:xfrm>
          <a:prstGeom prst="rect">
            <a:avLst/>
          </a:prstGeom>
          <a:noFill/>
          <a:ln/>
        </p:spPr>
        <p:txBody>
          <a:bodyPr wrap="square" lIns="0" tIns="0" rIns="0" bIns="0" rtlCol="0" anchor="ctr"/>
          <a:lstStyle/>
          <a:p>
            <a:pPr marL="0" indent="0" algn="l">
              <a:buNone/>
            </a:pPr>
            <a:r>
              <a:rPr lang="en-US" sz="3200" b="1" dirty="0">
                <a:solidFill>
                  <a:schemeClr val="tx1"/>
                </a:solidFill>
              </a:rPr>
              <a:t>How it works: glasses, phone, Jetson</a:t>
            </a:r>
            <a:endParaRPr lang="en-US" sz="3200" dirty="0"/>
          </a:p>
        </p:txBody>
      </p:sp>
      <p:pic>
        <p:nvPicPr>
          <p:cNvPr id="3" name="Image 0" descr="Architecture: Meta glasses stream to the Android phone, which does face recognition and OCR on-device and sends text over USB to a FastAPI gateway on the Jetson; the gateway uses local Gemma 3 via Ollama or Meta's Muse Spark 1.1 over Wi-Fi, chosen by AI_BACKEND."/>
          <p:cNvPicPr>
            <a:picLocks noChangeAspect="1"/>
          </p:cNvPicPr>
          <p:nvPr/>
        </p:nvPicPr>
        <p:blipFill>
          <a:blip r:embed="rId3"/>
          <a:stretch>
            <a:fillRect/>
          </a:stretch>
        </p:blipFill>
        <p:spPr>
          <a:xfrm>
            <a:off x="1112368" y="1188720"/>
            <a:ext cx="9966960" cy="502920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2</a:t>
            </a:fld>
            <a:endParaRPr lang="en-US"/>
          </a:p>
        </p:txBody>
      </p:sp>
    </p:spTree>
  </p:cSld>
  <p:clrMapOvr>
    <a:masterClrMapping/>
  </p:clrMapOvr>
</p:sld>
</file>

<file path=ppt/theme/theme1.xml><?xml version="1.0" encoding="utf-8"?>
<a:theme xmlns:a="http://schemas.openxmlformats.org/drawingml/2006/main" name="WF Meta">
  <a:themeElements>
    <a:clrScheme name="WF Meta">
      <a:dk1>
        <a:srgbClr val="1F1F1F"/>
      </a:dk1>
      <a:lt1>
        <a:srgbClr val="FFFFFF"/>
      </a:lt1>
      <a:dk2>
        <a:srgbClr val="8E1520"/>
      </a:dk2>
      <a:lt2>
        <a:srgbClr val="F3F3F2"/>
      </a:lt2>
      <a:accent1>
        <a:srgbClr val="CD1F2C"/>
      </a:accent1>
      <a:accent2>
        <a:srgbClr val="FFC72C"/>
      </a:accent2>
      <a:accent3>
        <a:srgbClr val="5A5A5A"/>
      </a:accent3>
      <a:accent4>
        <a:srgbClr val="B3141F"/>
      </a:accent4>
      <a:accent5>
        <a:srgbClr val="9A9A9A"/>
      </a:accent5>
      <a:accent6>
        <a:srgbClr val="E0A800"/>
      </a:accent6>
      <a:hlink>
        <a:srgbClr val="CD1F2C"/>
      </a:hlink>
      <a:folHlink>
        <a:srgbClr val="8E1520"/>
      </a:folHlink>
    </a:clrScheme>
    <a:fontScheme name="WF Met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253</Words>
  <Application>Microsoft Office PowerPoint</Application>
  <PresentationFormat>Widescreen</PresentationFormat>
  <Paragraphs>16</Paragraphs>
  <Slides>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IBM Plex Sans</vt:lpstr>
      <vt:lpstr>WF Meta</vt:lpstr>
      <vt:lpstr>A hands-free banking assistant on Meta smart glasses</vt:lpstr>
      <vt:lpstr>How it works: glasses, phone, Jetson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WF Meta: hands-free RM assistant</dc:title>
  <dc:subject>PptxGenJS Presentation</dc:subject>
  <dc:creator>PptxGenJS</dc:creator>
  <cp:lastModifiedBy>Kundanika Reddy Bommineni</cp:lastModifiedBy>
  <cp:revision>2</cp:revision>
  <dcterms:created xsi:type="dcterms:W3CDTF">2026-10-12T18:05:26Z</dcterms:created>
  <dcterms:modified xsi:type="dcterms:W3CDTF">2026-10-12T18:09:43Z</dcterms:modified>
</cp:coreProperties>
</file>