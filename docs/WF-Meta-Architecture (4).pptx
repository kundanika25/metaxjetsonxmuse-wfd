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6" r:id="rId2"/>
    <p:sldId id="260" r:id="rId10"/>
    <p:sldId id="257" r:id="rId3"/>
    <p:sldId id="259" r:id="rId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51" d="100"/>
          <a:sy n="51" d="100"/>
        </p:scale>
        <p:origin x="869"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 Id="rId10"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68006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WF Meta gives a relationship manager two hands-free abilities: a briefing on the customer in front of them, and an explanation of any document they look at. Face recognition and text reading happen on the phone; only text goes to the AI model.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glasses stream video, capture photos and carry audio. Middle: the phone recognises faces and reads document text itself; only text is sent on. Right: the Jetson gateway answers using local Gemma 3 by default, or Meta's Muse Spark 1.1 when AI_BACKEND is set to muse. The phone app is identical in both modes.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WF Meta turns Meta smart glasses into a relationship manager's assistant. Three jobs: recognise the customer from the live camera stream, read a document the RM looks at, and answer spoken questions about either. Everything is spoken back through the glasses speaker, so the RM keeps eye contact with the customer instead of looking at a screen. Customer data in this demo is fictional.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p/>
        </p:txBody>
      </p:sp>
      <p:sp>
        <p:nvSpPr>
          <p:cNvPr id="3" name="Notes Placeholder 2"/>
          <p:cNvSpPr>
            <a:spLocks noGrp="1"/>
          </p:cNvSpPr>
          <p:nvPr>
            <p:ph type="body" idx="1"/>
          </p:nvPr>
        </p:nvSpPr>
        <p:spPr/>
        <p:txBody>
          <a:bodyPr/>
          <a:lstStyle/>
          <a:p>
            <a:r>
              <a:rPr lang="en-US" dirty="0"/>
              <a:t>Walk through one step per click. Glasses: see and hear, nothing more. Phone: recognises the customer and reads the document on the device, so images never travel. Jetson: answers using only text, with local Gemma 3 by default or Meta's Muse Spark 1.1 if switched on. Close on the privacy point.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WF Title">
    <p:bg>
      <p:bgPr>
        <a:solidFill>
          <a:schemeClr val="accent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914400"/>
            <a:ext cx="6949440" cy="1188720"/>
          </a:xfrm>
          <a:prstGeom prst="rect">
            <a:avLst/>
          </a:prstGeom>
          <a:noFill/>
          <a:ln/>
        </p:spPr>
        <p:txBody>
          <a:bodyPr wrap="square" rtlCol="0"/>
          <a:lstStyle>
            <a:lvl1pPr marL="0" indent="0" algn="l">
              <a:buNone/>
              <a:defRPr lang="en-US" sz="5400" b="1" dirty="0">
                <a:solidFill>
                  <a:schemeClr val="bg1"/>
                </a:solidFill>
              </a:defRPr>
            </a:lvl1pPr>
          </a:lstStyle>
          <a:p>
            <a:pPr marL="0" indent="0" algn="l">
              <a:buNone/>
            </a:pPr>
            <a:endParaRPr lang="en-US" sz="5400" dirty="0"/>
          </a:p>
        </p:txBody>
      </p:sp>
      <p:sp>
        <p:nvSpPr>
          <p:cNvPr id="3" name="Text 0"/>
          <p:cNvSpPr>
            <a:spLocks noGrp="1"/>
          </p:cNvSpPr>
          <p:nvPr>
            <p:ph type="body" idx="101" hasCustomPrompt="1"/>
          </p:nvPr>
        </p:nvSpPr>
        <p:spPr>
          <a:xfrm>
            <a:off x="640080" y="2240280"/>
            <a:ext cx="6035040" cy="914400"/>
          </a:xfrm>
          <a:prstGeom prst="rect">
            <a:avLst/>
          </a:prstGeom>
          <a:noFill/>
          <a:ln/>
        </p:spPr>
        <p:txBody>
          <a:bodyPr wrap="square" rtlCol="0"/>
          <a:lstStyle>
            <a:lvl1pPr marL="0" indent="0">
              <a:buNone/>
              <a:defRPr lang="en-US" sz="2000" dirty="0">
                <a:solidFill>
                  <a:schemeClr val="bg1"/>
                </a:solidFill>
              </a:defRPr>
            </a:lvl1pPr>
          </a:lstStyle>
          <a:p>
            <a:pPr marL="0" indent="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WF Title Only">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685800"/>
          </a:xfrm>
          <a:prstGeom prst="rect">
            <a:avLst/>
          </a:prstGeom>
          <a:noFill/>
          <a:ln/>
        </p:spPr>
        <p:txBody>
          <a:bodyPr wrap="square" rtlCol="0"/>
          <a:lstStyle>
            <a:lvl1pPr marL="0" indent="0" algn="l">
              <a:buNone/>
              <a:defRPr lang="en-US" sz="3200" b="1" dirty="0">
                <a:solidFill>
                  <a:schemeClr val="tx1"/>
                </a:solidFill>
              </a:defRPr>
            </a:lvl1pPr>
          </a:lstStyle>
          <a:p>
            <a:pPr marL="0" indent="0" algn="l">
              <a:buNone/>
            </a:pPr>
            <a:endParaRPr lang="en-US" sz="3200" dirty="0"/>
          </a:p>
        </p:txBody>
      </p:sp>
      <p:sp>
        <p:nvSpPr>
          <p:cNvPr id="3" name="Text 0"/>
          <p:cNvSpPr/>
          <p:nvPr/>
        </p:nvSpPr>
        <p:spPr>
          <a:xfrm>
            <a:off x="548640" y="6400800"/>
            <a:ext cx="3657600" cy="274320"/>
          </a:xfrm>
          <a:prstGeom prst="rect">
            <a:avLst/>
          </a:prstGeom>
          <a:noFill/>
          <a:ln/>
        </p:spPr>
        <p:txBody>
          <a:bodyPr wrap="square" lIns="0" tIns="0" rIns="0" bIns="0" rtlCol="0" anchor="ctr"/>
          <a:lstStyle/>
          <a:p>
            <a:pPr marL="0" indent="0">
              <a:buNone/>
            </a:pPr>
            <a:r>
              <a:rPr lang="en-US" sz="1000" dirty="0">
                <a:solidFill>
                  <a:schemeClr val="accent3"/>
                </a:solidFill>
              </a:rPr>
              <a:t>WF Meta · October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body">
    <p:bg>
      <p:bgPr>
        <a:solidFill>
          <a:srgbClr val="C41E2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63412"/>
            <a:ext cx="10566400" cy="1484313"/>
          </a:xfrm>
          <a:prstGeom prst="rect">
            <a:avLst/>
          </a:prstGeom>
          <a:noFill/>
          <a:ln/>
        </p:spPr>
        <p:txBody>
          <a:bodyPr wrap="square" lIns="0" tIns="0" rIns="0" bIns="0" rtlCol="0" anchor="t"/>
          <a:lstStyle>
            <a:lvl1pPr marL="0" indent="0" algn="l">
              <a:lnSpc>
                <a:spcPct val="110000"/>
              </a:lnSpc>
              <a:buNone/>
              <a:defRPr lang="en-US" sz="5583" dirty="0">
                <a:solidFill>
                  <a:srgbClr val="FFF8F2"/>
                </a:solidFill>
                <a:latin typeface="IBM Plex Sans" pitchFamily="34" charset="0"/>
                <a:ea typeface="IBM Plex Sans" pitchFamily="34" charset="-122"/>
                <a:cs typeface="IBM Plex Sans" pitchFamily="34" charset="-120"/>
              </a:defRPr>
            </a:lvl1pPr>
          </a:lstStyle>
          <a:p>
            <a:pPr marL="0" indent="0" algn="l">
              <a:lnSpc>
                <a:spcPct val="110000"/>
              </a:lnSpc>
              <a:buNone/>
            </a:pPr>
            <a:endParaRPr lang="en-US" sz="5583" dirty="0"/>
          </a:p>
        </p:txBody>
      </p:sp>
      <p:sp>
        <p:nvSpPr>
          <p:cNvPr id="3" name="Text Placeholder 2"/>
          <p:cNvSpPr>
            <a:spLocks noGrp="1"/>
          </p:cNvSpPr>
          <p:nvPr>
            <p:ph type="body" idx="101"/>
          </p:nvPr>
        </p:nvSpPr>
        <p:spPr>
          <a:xfrm>
            <a:off x="812800" y="3052524"/>
            <a:ext cx="10566400" cy="2992676"/>
          </a:xfrm>
          <a:prstGeom prst="rect">
            <a:avLst/>
          </a:prstGeom>
          <a:noFill/>
          <a:ln/>
        </p:spPr>
        <p:txBody>
          <a:bodyPr wrap="square" lIns="0" tIns="0" rIns="0" bIns="0" rtlCol="0" anchor="t"/>
          <a:lstStyle>
            <a:lvl1pPr marL="0" indent="0" algn="l">
              <a:lnSpc>
                <a:spcPct val="140000"/>
              </a:lnSpc>
              <a:buNone/>
              <a:defRPr lang="en-US" sz="1600" dirty="0">
                <a:solidFill>
                  <a:srgbClr val="FFF8F2"/>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271261518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914400"/>
            <a:ext cx="6949440" cy="1188720"/>
          </a:xfrm>
          <a:prstGeom prst="rect">
            <a:avLst/>
          </a:prstGeom>
          <a:noFill/>
          <a:ln/>
        </p:spPr>
        <p:txBody>
          <a:bodyPr wrap="square" lIns="0" tIns="0" rIns="0" bIns="0" rtlCol="0" anchor="b"/>
          <a:lstStyle/>
          <a:p>
            <a:pPr marL="0" indent="0" algn="l">
              <a:buNone/>
            </a:pPr>
            <a:r>
              <a:rPr lang="en-US" sz="5400" b="1" dirty="0">
                <a:solidFill>
                  <a:schemeClr val="bg1"/>
                </a:solidFill>
              </a:rPr>
              <a:t>WF Meta</a:t>
            </a:r>
            <a:endParaRPr lang="en-US" sz="5400" dirty="0"/>
          </a:p>
        </p:txBody>
      </p:sp>
      <p:sp>
        <p:nvSpPr>
          <p:cNvPr id="3" name="Text 0"/>
          <p:cNvSpPr>
            <a:spLocks noGrp="1"/>
          </p:cNvSpPr>
          <p:nvPr>
            <p:ph type="body" idx="101" hasCustomPrompt="1"/>
          </p:nvPr>
        </p:nvSpPr>
        <p:spPr>
          <a:xfrm>
            <a:off x="640080" y="2240280"/>
            <a:ext cx="6035040" cy="914400"/>
          </a:xfrm>
          <a:prstGeom prst="rect">
            <a:avLst/>
          </a:prstGeom>
          <a:noFill/>
          <a:ln/>
        </p:spPr>
        <p:txBody>
          <a:bodyPr wrap="square" lIns="0" tIns="0" rIns="0" bIns="0" rtlCol="0" anchor="t"/>
          <a:lstStyle/>
          <a:p>
            <a:pPr marL="0" indent="0">
              <a:buNone/>
            </a:pPr>
            <a:r>
              <a:rPr lang="en-US" sz="2000" dirty="0">
                <a:solidFill>
                  <a:schemeClr val="bg1"/>
                </a:solidFill>
              </a:rPr>
              <a:t>A hands-free assistant for bank relationship managers, built on Ray-Ban Meta glasses</a:t>
            </a:r>
            <a:endParaRPr lang="en-US" sz="2000" dirty="0"/>
          </a:p>
        </p:txBody>
      </p:sp>
      <p:sp>
        <p:nvSpPr>
          <p:cNvPr id="4" name="Capability card 1"/>
          <p:cNvSpPr/>
          <p:nvPr/>
        </p:nvSpPr>
        <p:spPr>
          <a:xfrm>
            <a:off x="7863840" y="914400"/>
            <a:ext cx="3749040" cy="1645920"/>
          </a:xfrm>
          <a:prstGeom prst="roundRect">
            <a:avLst>
              <a:gd name="adj" fmla="val 6667"/>
            </a:avLst>
          </a:prstGeom>
          <a:solidFill>
            <a:schemeClr val="bg1"/>
          </a:solidFill>
          <a:ln/>
        </p:spPr>
      </p:sp>
      <p:sp>
        <p:nvSpPr>
          <p:cNvPr id="5" name="Icon circle 1"/>
          <p:cNvSpPr/>
          <p:nvPr/>
        </p:nvSpPr>
        <p:spPr>
          <a:xfrm>
            <a:off x="8092440" y="1143000"/>
            <a:ext cx="548640" cy="548640"/>
          </a:xfrm>
          <a:prstGeom prst="ellipse">
            <a:avLst/>
          </a:prstGeom>
          <a:solidFill>
            <a:schemeClr val="accent1"/>
          </a:solidFill>
          <a:ln/>
        </p:spPr>
      </p:sp>
      <p:pic>
        <p:nvPicPr>
          <p:cNvPr id="6" name="Image 0" descr="Customer briefing"/>
          <p:cNvPicPr>
            <a:picLocks noChangeAspect="1"/>
          </p:cNvPicPr>
          <p:nvPr/>
        </p:nvPicPr>
        <p:blipFill>
          <a:blip r:embed="rId3"/>
          <a:stretch>
            <a:fillRect/>
          </a:stretch>
        </p:blipFill>
        <p:spPr>
          <a:xfrm>
            <a:off x="8229600" y="1280160"/>
            <a:ext cx="274320" cy="274320"/>
          </a:xfrm>
          <a:prstGeom prst="rect">
            <a:avLst/>
          </a:prstGeom>
        </p:spPr>
      </p:pic>
      <p:sp>
        <p:nvSpPr>
          <p:cNvPr id="7" name="Card title 1"/>
          <p:cNvSpPr txBox="1"/>
          <p:nvPr/>
        </p:nvSpPr>
        <p:spPr>
          <a:xfrm>
            <a:off x="8778240" y="1143000"/>
            <a:ext cx="2697480" cy="548640"/>
          </a:xfrm>
          <a:prstGeom prst="rect">
            <a:avLst/>
          </a:prstGeom>
          <a:noFill/>
          <a:ln/>
        </p:spPr>
        <p:txBody>
          <a:bodyPr wrap="square" lIns="0" tIns="0" rIns="0" bIns="0" rtlCol="0" anchor="ctr"/>
          <a:lstStyle/>
          <a:p>
            <a:pPr marL="0" indent="0">
              <a:buNone/>
            </a:pPr>
            <a:r>
              <a:rPr lang="en-US" sz="1800" b="1" dirty="0">
                <a:solidFill>
                  <a:schemeClr val="tx1"/>
                </a:solidFill>
              </a:rPr>
              <a:t>Customer briefing</a:t>
            </a:r>
            <a:endParaRPr lang="en-US" sz="1800" dirty="0"/>
          </a:p>
        </p:txBody>
      </p:sp>
      <p:sp>
        <p:nvSpPr>
          <p:cNvPr id="8" name="Card text 1"/>
          <p:cNvSpPr txBox="1"/>
          <p:nvPr/>
        </p:nvSpPr>
        <p:spPr>
          <a:xfrm>
            <a:off x="8092440" y="1783080"/>
            <a:ext cx="3383280" cy="685800"/>
          </a:xfrm>
          <a:prstGeom prst="rect">
            <a:avLst/>
          </a:prstGeom>
          <a:noFill/>
          <a:ln/>
        </p:spPr>
        <p:txBody>
          <a:bodyPr wrap="square" lIns="0" tIns="0" rIns="0" bIns="0" rtlCol="0" anchor="t"/>
          <a:lstStyle/>
          <a:p>
            <a:pPr marL="0" indent="0">
              <a:buNone/>
            </a:pPr>
            <a:r>
              <a:rPr lang="en-US" sz="1300" dirty="0">
                <a:solidFill>
                  <a:schemeClr val="accent3"/>
                </a:solidFill>
              </a:rPr>
              <a:t>Recognises a customer's face, greets them, and briefs the RM on accounts and recent activity in answer to a spoken question.</a:t>
            </a:r>
            <a:endParaRPr lang="en-US" sz="1300" dirty="0"/>
          </a:p>
        </p:txBody>
      </p:sp>
      <p:sp>
        <p:nvSpPr>
          <p:cNvPr id="9" name="Capability card 2"/>
          <p:cNvSpPr/>
          <p:nvPr/>
        </p:nvSpPr>
        <p:spPr>
          <a:xfrm>
            <a:off x="7863840" y="2788920"/>
            <a:ext cx="3749040" cy="1645920"/>
          </a:xfrm>
          <a:prstGeom prst="roundRect">
            <a:avLst>
              <a:gd name="adj" fmla="val 6667"/>
            </a:avLst>
          </a:prstGeom>
          <a:solidFill>
            <a:schemeClr val="bg1"/>
          </a:solidFill>
          <a:ln/>
        </p:spPr>
      </p:sp>
      <p:sp>
        <p:nvSpPr>
          <p:cNvPr id="10" name="Icon circle 2"/>
          <p:cNvSpPr/>
          <p:nvPr/>
        </p:nvSpPr>
        <p:spPr>
          <a:xfrm>
            <a:off x="8092440" y="3017520"/>
            <a:ext cx="548640" cy="548640"/>
          </a:xfrm>
          <a:prstGeom prst="ellipse">
            <a:avLst/>
          </a:prstGeom>
          <a:solidFill>
            <a:schemeClr val="accent1"/>
          </a:solidFill>
          <a:ln/>
        </p:spPr>
      </p:sp>
      <p:pic>
        <p:nvPicPr>
          <p:cNvPr id="11" name="Image 1" descr="Document intelligence"/>
          <p:cNvPicPr>
            <a:picLocks noChangeAspect="1"/>
          </p:cNvPicPr>
          <p:nvPr/>
        </p:nvPicPr>
        <p:blipFill>
          <a:blip r:embed="rId4"/>
          <a:stretch>
            <a:fillRect/>
          </a:stretch>
        </p:blipFill>
        <p:spPr>
          <a:xfrm>
            <a:off x="8229600" y="3154680"/>
            <a:ext cx="274320" cy="274320"/>
          </a:xfrm>
          <a:prstGeom prst="rect">
            <a:avLst/>
          </a:prstGeom>
        </p:spPr>
      </p:pic>
      <p:sp>
        <p:nvSpPr>
          <p:cNvPr id="12" name="Card title 2"/>
          <p:cNvSpPr txBox="1"/>
          <p:nvPr/>
        </p:nvSpPr>
        <p:spPr>
          <a:xfrm>
            <a:off x="8778240" y="3017520"/>
            <a:ext cx="2697480" cy="548640"/>
          </a:xfrm>
          <a:prstGeom prst="rect">
            <a:avLst/>
          </a:prstGeom>
          <a:noFill/>
          <a:ln/>
        </p:spPr>
        <p:txBody>
          <a:bodyPr wrap="square" lIns="0" tIns="0" rIns="0" bIns="0" rtlCol="0" anchor="ctr"/>
          <a:lstStyle/>
          <a:p>
            <a:pPr marL="0" indent="0">
              <a:buNone/>
            </a:pPr>
            <a:r>
              <a:rPr lang="en-US" sz="1800" b="1" dirty="0">
                <a:solidFill>
                  <a:schemeClr val="tx1"/>
                </a:solidFill>
              </a:rPr>
              <a:t>Document intelligence</a:t>
            </a:r>
            <a:endParaRPr lang="en-US" sz="1800" dirty="0"/>
          </a:p>
        </p:txBody>
      </p:sp>
      <p:sp>
        <p:nvSpPr>
          <p:cNvPr id="13" name="Card text 2"/>
          <p:cNvSpPr txBox="1"/>
          <p:nvPr/>
        </p:nvSpPr>
        <p:spPr>
          <a:xfrm>
            <a:off x="8092440" y="3657600"/>
            <a:ext cx="3383280" cy="685800"/>
          </a:xfrm>
          <a:prstGeom prst="rect">
            <a:avLst/>
          </a:prstGeom>
          <a:noFill/>
          <a:ln/>
        </p:spPr>
        <p:txBody>
          <a:bodyPr wrap="square" lIns="0" tIns="0" rIns="0" bIns="0" rtlCol="0" anchor="t"/>
          <a:lstStyle/>
          <a:p>
            <a:pPr marL="0" indent="0">
              <a:buNone/>
            </a:pPr>
            <a:r>
              <a:rPr lang="en-US" sz="1300" dirty="0">
                <a:solidFill>
                  <a:schemeClr val="accent3"/>
                </a:solidFill>
              </a:rPr>
              <a:t>Reads a document the RM is looking at, explains it, flags risks and answers follow-up questions.</a:t>
            </a:r>
            <a:endParaRPr lang="en-US" sz="1300" dirty="0"/>
          </a:p>
        </p:txBody>
      </p:sp>
      <p:sp>
        <p:nvSpPr>
          <p:cNvPr id="14" name="Stat 1"/>
          <p:cNvSpPr txBox="1"/>
          <p:nvPr/>
        </p:nvSpPr>
        <p:spPr>
          <a:xfrm>
            <a:off x="640080" y="4160520"/>
            <a:ext cx="2194560" cy="731520"/>
          </a:xfrm>
          <a:prstGeom prst="rect">
            <a:avLst/>
          </a:prstGeom>
          <a:noFill/>
          <a:ln/>
        </p:spPr>
        <p:txBody>
          <a:bodyPr wrap="square" lIns="0" tIns="0" rIns="0" bIns="0" rtlCol="0" anchor="b"/>
          <a:lstStyle/>
          <a:p>
            <a:pPr marL="0" indent="0">
              <a:buNone/>
            </a:pPr>
            <a:r>
              <a:rPr lang="en-US" sz="3600" b="1" dirty="0">
                <a:solidFill>
                  <a:schemeClr val="accent2"/>
                </a:solidFill>
              </a:rPr>
              <a:t>On-phone</a:t>
            </a:r>
            <a:endParaRPr lang="en-US" sz="3600" dirty="0"/>
          </a:p>
        </p:txBody>
      </p:sp>
      <p:sp>
        <p:nvSpPr>
          <p:cNvPr id="15" name="Stat label 1"/>
          <p:cNvSpPr txBox="1"/>
          <p:nvPr/>
        </p:nvSpPr>
        <p:spPr>
          <a:xfrm>
            <a:off x="640080" y="4983480"/>
            <a:ext cx="2103120" cy="914400"/>
          </a:xfrm>
          <a:prstGeom prst="rect">
            <a:avLst/>
          </a:prstGeom>
          <a:noFill/>
          <a:ln/>
        </p:spPr>
        <p:txBody>
          <a:bodyPr wrap="square" lIns="0" tIns="0" rIns="0" bIns="0" rtlCol="0" anchor="t"/>
          <a:lstStyle/>
          <a:p>
            <a:pPr marL="0" indent="0">
              <a:buNone/>
            </a:pPr>
            <a:r>
              <a:rPr lang="en-US" sz="1300" dirty="0">
                <a:solidFill>
                  <a:schemeClr val="bg1"/>
                </a:solidFill>
              </a:rPr>
              <a:t>face recognition and document reading: images never leave the phone</a:t>
            </a:r>
            <a:endParaRPr lang="en-US" sz="1300" dirty="0"/>
          </a:p>
        </p:txBody>
      </p:sp>
      <p:sp>
        <p:nvSpPr>
          <p:cNvPr id="16" name="Stat 2"/>
          <p:cNvSpPr txBox="1"/>
          <p:nvPr/>
        </p:nvSpPr>
        <p:spPr>
          <a:xfrm>
            <a:off x="3017520" y="4160520"/>
            <a:ext cx="2194560" cy="731520"/>
          </a:xfrm>
          <a:prstGeom prst="rect">
            <a:avLst/>
          </a:prstGeom>
          <a:noFill/>
          <a:ln/>
        </p:spPr>
        <p:txBody>
          <a:bodyPr wrap="square" lIns="0" tIns="0" rIns="0" bIns="0" rtlCol="0" anchor="b"/>
          <a:lstStyle/>
          <a:p>
            <a:pPr marL="0" indent="0">
              <a:buNone/>
            </a:pPr>
            <a:r>
              <a:rPr lang="en-US" sz="3600" b="1" dirty="0">
                <a:solidFill>
                  <a:schemeClr val="accent2"/>
                </a:solidFill>
              </a:rPr>
              <a:t>2</a:t>
            </a:r>
            <a:endParaRPr lang="en-US" sz="3600" dirty="0"/>
          </a:p>
        </p:txBody>
      </p:sp>
      <p:sp>
        <p:nvSpPr>
          <p:cNvPr id="17" name="Stat label 2"/>
          <p:cNvSpPr txBox="1"/>
          <p:nvPr/>
        </p:nvSpPr>
        <p:spPr>
          <a:xfrm>
            <a:off x="3017520" y="4983480"/>
            <a:ext cx="2103120" cy="914400"/>
          </a:xfrm>
          <a:prstGeom prst="rect">
            <a:avLst/>
          </a:prstGeom>
          <a:noFill/>
          <a:ln/>
        </p:spPr>
        <p:txBody>
          <a:bodyPr wrap="square" lIns="0" tIns="0" rIns="0" bIns="0" rtlCol="0" anchor="t"/>
          <a:lstStyle/>
          <a:p>
            <a:pPr marL="0" indent="0">
              <a:buNone/>
            </a:pPr>
            <a:r>
              <a:rPr lang="en-US" sz="1300" dirty="0">
                <a:solidFill>
                  <a:schemeClr val="bg1"/>
                </a:solidFill>
              </a:rPr>
              <a:t>switchable AI backends: local Gemma 3 or Meta Muse Spark 1.1</a:t>
            </a:r>
            <a:endParaRPr lang="en-US" sz="1300" dirty="0"/>
          </a:p>
        </p:txBody>
      </p:sp>
      <p:sp>
        <p:nvSpPr>
          <p:cNvPr id="18" name="Stat 3"/>
          <p:cNvSpPr txBox="1"/>
          <p:nvPr/>
        </p:nvSpPr>
        <p:spPr>
          <a:xfrm>
            <a:off x="5394960" y="4160520"/>
            <a:ext cx="2194560" cy="731520"/>
          </a:xfrm>
          <a:prstGeom prst="rect">
            <a:avLst/>
          </a:prstGeom>
          <a:noFill/>
          <a:ln/>
        </p:spPr>
        <p:txBody>
          <a:bodyPr wrap="square" lIns="0" tIns="0" rIns="0" bIns="0" rtlCol="0" anchor="b"/>
          <a:lstStyle/>
          <a:p>
            <a:pPr marL="0" indent="0">
              <a:buNone/>
            </a:pPr>
            <a:r>
              <a:rPr lang="en-US" sz="3600" b="1" dirty="0">
                <a:solidFill>
                  <a:schemeClr val="accent2"/>
                </a:solidFill>
              </a:rPr>
              <a:t>Text only</a:t>
            </a:r>
            <a:endParaRPr lang="en-US" sz="3600" dirty="0"/>
          </a:p>
        </p:txBody>
      </p:sp>
      <p:sp>
        <p:nvSpPr>
          <p:cNvPr id="19" name="Stat label 3"/>
          <p:cNvSpPr txBox="1"/>
          <p:nvPr/>
        </p:nvSpPr>
        <p:spPr>
          <a:xfrm>
            <a:off x="5394960" y="4983480"/>
            <a:ext cx="2103120" cy="914400"/>
          </a:xfrm>
          <a:prstGeom prst="rect">
            <a:avLst/>
          </a:prstGeom>
          <a:noFill/>
          <a:ln/>
        </p:spPr>
        <p:txBody>
          <a:bodyPr wrap="square" lIns="0" tIns="0" rIns="0" bIns="0" rtlCol="0" anchor="t"/>
          <a:lstStyle/>
          <a:p>
            <a:pPr marL="0" indent="0">
              <a:buNone/>
            </a:pPr>
            <a:r>
              <a:rPr lang="en-US" sz="1300" dirty="0">
                <a:solidFill>
                  <a:schemeClr val="bg1"/>
                </a:solidFill>
              </a:rPr>
              <a:t>is all the AI model receives, over a direct USB link to the Jetson</a:t>
            </a:r>
            <a:endParaRPr lang="en-US" sz="1300" dirty="0"/>
          </a:p>
        </p:txBody>
      </p:sp>
      <p:sp>
        <p:nvSpPr>
          <p:cNvPr id="20" name="Disclaimer"/>
          <p:cNvSpPr txBox="1"/>
          <p:nvPr/>
        </p:nvSpPr>
        <p:spPr>
          <a:xfrm>
            <a:off x="640080" y="6263640"/>
            <a:ext cx="5486400" cy="274320"/>
          </a:xfrm>
          <a:prstGeom prst="rect">
            <a:avLst/>
          </a:prstGeom>
          <a:noFill/>
          <a:ln/>
        </p:spPr>
        <p:txBody>
          <a:bodyPr wrap="square" lIns="0" tIns="0" rIns="0" bIns="0" rtlCol="0" anchor="ctr"/>
          <a:lstStyle/>
          <a:p>
            <a:pPr marL="0" indent="0">
              <a:buNone/>
            </a:pPr>
            <a:r>
              <a:rPr lang="en-US" sz="1000" i="1" dirty="0">
                <a:solidFill>
                  <a:schemeClr val="bg1"/>
                </a:solidFill>
              </a:rPr>
              <a:t>All customer data in the demo is fictional</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00" fill="hold"/>
                                        <p:tgtEl>
                                          <p:spTgt spid="2"/>
                                        </p:tgtEl>
                                      </p:cBhvr>
                                    </p:animEffect>
                                    <p:anim calcmode="lin" valueType="num">
                                      <p:cBhvr>
                                        <p:cTn id="8" dur="700" fill="hold"/>
                                        <p:tgtEl>
                                          <p:spTgt spid="2"/>
                                        </p:tgtEl>
                                        <p:attrNameLst>
                                          <p:attrName>ppt_x</p:attrName>
                                        </p:attrNameLst>
                                      </p:cBhvr>
                                      <p:tavLst>
                                        <p:tav tm="0">
                                          <p:val>
                                            <p:strVal val="#ppt_x"/>
                                          </p:val>
                                        </p:tav>
                                        <p:tav tm="100000">
                                          <p:val>
                                            <p:strVal val="#ppt_x"/>
                                          </p:val>
                                        </p:tav>
                                      </p:tavLst>
                                    </p:anim>
                                    <p:anim calcmode="lin" valueType="num">
                                      <p:cBhvr>
                                        <p:cTn id="9" dur="7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25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700" fill="hold"/>
                                        <p:tgtEl>
                                          <p:spTgt spid="3"/>
                                        </p:tgtEl>
                                      </p:cBhvr>
                                    </p:animEffect>
                                    <p:anim calcmode="lin" valueType="num">
                                      <p:cBhvr>
                                        <p:cTn id="13" dur="700" fill="hold"/>
                                        <p:tgtEl>
                                          <p:spTgt spid="3"/>
                                        </p:tgtEl>
                                        <p:attrNameLst>
                                          <p:attrName>ppt_x</p:attrName>
                                        </p:attrNameLst>
                                      </p:cBhvr>
                                      <p:tavLst>
                                        <p:tav tm="0">
                                          <p:val>
                                            <p:strVal val="#ppt_x"/>
                                          </p:val>
                                        </p:tav>
                                        <p:tav tm="100000">
                                          <p:val>
                                            <p:strVal val="#ppt_x"/>
                                          </p:val>
                                        </p:tav>
                                      </p:tavLst>
                                    </p:anim>
                                    <p:anim calcmode="lin" valueType="num">
                                      <p:cBhvr>
                                        <p:cTn id="14" dur="700" fill="hold"/>
                                        <p:tgtEl>
                                          <p:spTgt spid="3"/>
                                        </p:tgtEl>
                                        <p:attrNameLst>
                                          <p:attrName>ppt_y</p:attrName>
                                        </p:attrNameLst>
                                      </p:cBhvr>
                                      <p:tavLst>
                                        <p:tav tm="0">
                                          <p:val>
                                            <p:strVal val="#ppt_y+.1"/>
                                          </p:val>
                                        </p:tav>
                                        <p:tav tm="100000">
                                          <p:val>
                                            <p:strVal val="#ppt_y"/>
                                          </p:val>
                                        </p:tav>
                                      </p:tavLst>
                                    </p:anim>
                                  </p:childTnLst>
                                </p:cTn>
                              </p:par>
                            </p:childTnLst>
                          </p:cTn>
                        </p:par>
                        <p:par>
                          <p:cTn id="15" fill="hold">
                            <p:stCondLst>
                              <p:cond delay="950"/>
                            </p:stCondLst>
                            <p:childTnLst>
                              <p:par>
                                <p:cTn id="16" presetID="42" presetClass="entr" presetSubtype="0" fill="hold" grpId="0" nodeType="after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600" fill="hold"/>
                                        <p:tgtEl>
                                          <p:spTgt spid="4"/>
                                        </p:tgtEl>
                                      </p:cBhvr>
                                    </p:animEffect>
                                    <p:anim calcmode="lin" valueType="num">
                                      <p:cBhvr>
                                        <p:cTn id="19" dur="600" fill="hold"/>
                                        <p:tgtEl>
                                          <p:spTgt spid="4"/>
                                        </p:tgtEl>
                                        <p:attrNameLst>
                                          <p:attrName>ppt_x</p:attrName>
                                        </p:attrNameLst>
                                      </p:cBhvr>
                                      <p:tavLst>
                                        <p:tav tm="0">
                                          <p:val>
                                            <p:strVal val="#ppt_x"/>
                                          </p:val>
                                        </p:tav>
                                        <p:tav tm="100000">
                                          <p:val>
                                            <p:strVal val="#ppt_x"/>
                                          </p:val>
                                        </p:tav>
                                      </p:tavLst>
                                    </p:anim>
                                    <p:anim calcmode="lin" valueType="num">
                                      <p:cBhvr>
                                        <p:cTn id="20" dur="600" fill="hold"/>
                                        <p:tgtEl>
                                          <p:spTgt spid="4"/>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600" fill="hold"/>
                                        <p:tgtEl>
                                          <p:spTgt spid="5"/>
                                        </p:tgtEl>
                                      </p:cBhvr>
                                    </p:animEffect>
                                    <p:anim calcmode="lin" valueType="num">
                                      <p:cBhvr>
                                        <p:cTn id="24" dur="600" fill="hold"/>
                                        <p:tgtEl>
                                          <p:spTgt spid="5"/>
                                        </p:tgtEl>
                                        <p:attrNameLst>
                                          <p:attrName>ppt_x</p:attrName>
                                        </p:attrNameLst>
                                      </p:cBhvr>
                                      <p:tavLst>
                                        <p:tav tm="0">
                                          <p:val>
                                            <p:strVal val="#ppt_x"/>
                                          </p:val>
                                        </p:tav>
                                        <p:tav tm="100000">
                                          <p:val>
                                            <p:strVal val="#ppt_x"/>
                                          </p:val>
                                        </p:tav>
                                      </p:tavLst>
                                    </p:anim>
                                    <p:anim calcmode="lin" valueType="num">
                                      <p:cBhvr>
                                        <p:cTn id="25" dur="600" fill="hold"/>
                                        <p:tgtEl>
                                          <p:spTgt spid="5"/>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600" fill="hold"/>
                                        <p:tgtEl>
                                          <p:spTgt spid="6"/>
                                        </p:tgtEl>
                                      </p:cBhvr>
                                    </p:animEffect>
                                    <p:anim calcmode="lin" valueType="num">
                                      <p:cBhvr>
                                        <p:cTn id="29" dur="600" fill="hold"/>
                                        <p:tgtEl>
                                          <p:spTgt spid="6"/>
                                        </p:tgtEl>
                                        <p:attrNameLst>
                                          <p:attrName>ppt_x</p:attrName>
                                        </p:attrNameLst>
                                      </p:cBhvr>
                                      <p:tavLst>
                                        <p:tav tm="0">
                                          <p:val>
                                            <p:strVal val="#ppt_x"/>
                                          </p:val>
                                        </p:tav>
                                        <p:tav tm="100000">
                                          <p:val>
                                            <p:strVal val="#ppt_x"/>
                                          </p:val>
                                        </p:tav>
                                      </p:tavLst>
                                    </p:anim>
                                    <p:anim calcmode="lin" valueType="num">
                                      <p:cBhvr>
                                        <p:cTn id="30" dur="600" fill="hold"/>
                                        <p:tgtEl>
                                          <p:spTgt spid="6"/>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600" fill="hold"/>
                                        <p:tgtEl>
                                          <p:spTgt spid="7"/>
                                        </p:tgtEl>
                                      </p:cBhvr>
                                    </p:animEffect>
                                    <p:anim calcmode="lin" valueType="num">
                                      <p:cBhvr>
                                        <p:cTn id="34" dur="600" fill="hold"/>
                                        <p:tgtEl>
                                          <p:spTgt spid="7"/>
                                        </p:tgtEl>
                                        <p:attrNameLst>
                                          <p:attrName>ppt_x</p:attrName>
                                        </p:attrNameLst>
                                      </p:cBhvr>
                                      <p:tavLst>
                                        <p:tav tm="0">
                                          <p:val>
                                            <p:strVal val="#ppt_x"/>
                                          </p:val>
                                        </p:tav>
                                        <p:tav tm="100000">
                                          <p:val>
                                            <p:strVal val="#ppt_x"/>
                                          </p:val>
                                        </p:tav>
                                      </p:tavLst>
                                    </p:anim>
                                    <p:anim calcmode="lin" valueType="num">
                                      <p:cBhvr>
                                        <p:cTn id="35" dur="600" fill="hold"/>
                                        <p:tgtEl>
                                          <p:spTgt spid="7"/>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600" fill="hold"/>
                                        <p:tgtEl>
                                          <p:spTgt spid="8"/>
                                        </p:tgtEl>
                                      </p:cBhvr>
                                    </p:animEffect>
                                    <p:anim calcmode="lin" valueType="num">
                                      <p:cBhvr>
                                        <p:cTn id="39" dur="600" fill="hold"/>
                                        <p:tgtEl>
                                          <p:spTgt spid="8"/>
                                        </p:tgtEl>
                                        <p:attrNameLst>
                                          <p:attrName>ppt_x</p:attrName>
                                        </p:attrNameLst>
                                      </p:cBhvr>
                                      <p:tavLst>
                                        <p:tav tm="0">
                                          <p:val>
                                            <p:strVal val="#ppt_x"/>
                                          </p:val>
                                        </p:tav>
                                        <p:tav tm="100000">
                                          <p:val>
                                            <p:strVal val="#ppt_x"/>
                                          </p:val>
                                        </p:tav>
                                      </p:tavLst>
                                    </p:anim>
                                    <p:anim calcmode="lin" valueType="num">
                                      <p:cBhvr>
                                        <p:cTn id="40" dur="600" fill="hold"/>
                                        <p:tgtEl>
                                          <p:spTgt spid="8"/>
                                        </p:tgtEl>
                                        <p:attrNameLst>
                                          <p:attrName>ppt_y</p:attrName>
                                        </p:attrNameLst>
                                      </p:cBhvr>
                                      <p:tavLst>
                                        <p:tav tm="0">
                                          <p:val>
                                            <p:strVal val="#ppt_y+.1"/>
                                          </p:val>
                                        </p:tav>
                                        <p:tav tm="100000">
                                          <p:val>
                                            <p:strVal val="#ppt_y"/>
                                          </p:val>
                                        </p:tav>
                                      </p:tavLst>
                                    </p:anim>
                                  </p:childTnLst>
                                </p:cTn>
                              </p:par>
                            </p:childTnLst>
                          </p:cTn>
                        </p:par>
                        <p:par>
                          <p:cTn id="41" fill="hold">
                            <p:stCondLst>
                              <p:cond delay="1550"/>
                            </p:stCondLst>
                            <p:childTnLst>
                              <p:par>
                                <p:cTn id="42" presetID="42" presetClass="entr" presetSubtype="0" fill="hold" grpId="0" nodeType="after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600" fill="hold"/>
                                        <p:tgtEl>
                                          <p:spTgt spid="9"/>
                                        </p:tgtEl>
                                      </p:cBhvr>
                                    </p:animEffect>
                                    <p:anim calcmode="lin" valueType="num">
                                      <p:cBhvr>
                                        <p:cTn id="45" dur="600" fill="hold"/>
                                        <p:tgtEl>
                                          <p:spTgt spid="9"/>
                                        </p:tgtEl>
                                        <p:attrNameLst>
                                          <p:attrName>ppt_x</p:attrName>
                                        </p:attrNameLst>
                                      </p:cBhvr>
                                      <p:tavLst>
                                        <p:tav tm="0">
                                          <p:val>
                                            <p:strVal val="#ppt_x"/>
                                          </p:val>
                                        </p:tav>
                                        <p:tav tm="100000">
                                          <p:val>
                                            <p:strVal val="#ppt_x"/>
                                          </p:val>
                                        </p:tav>
                                      </p:tavLst>
                                    </p:anim>
                                    <p:anim calcmode="lin" valueType="num">
                                      <p:cBhvr>
                                        <p:cTn id="46" dur="600" fill="hold"/>
                                        <p:tgtEl>
                                          <p:spTgt spid="9"/>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600" fill="hold"/>
                                        <p:tgtEl>
                                          <p:spTgt spid="10"/>
                                        </p:tgtEl>
                                      </p:cBhvr>
                                    </p:animEffect>
                                    <p:anim calcmode="lin" valueType="num">
                                      <p:cBhvr>
                                        <p:cTn id="50" dur="600" fill="hold"/>
                                        <p:tgtEl>
                                          <p:spTgt spid="10"/>
                                        </p:tgtEl>
                                        <p:attrNameLst>
                                          <p:attrName>ppt_x</p:attrName>
                                        </p:attrNameLst>
                                      </p:cBhvr>
                                      <p:tavLst>
                                        <p:tav tm="0">
                                          <p:val>
                                            <p:strVal val="#ppt_x"/>
                                          </p:val>
                                        </p:tav>
                                        <p:tav tm="100000">
                                          <p:val>
                                            <p:strVal val="#ppt_x"/>
                                          </p:val>
                                        </p:tav>
                                      </p:tavLst>
                                    </p:anim>
                                    <p:anim calcmode="lin" valueType="num">
                                      <p:cBhvr>
                                        <p:cTn id="51" dur="600" fill="hold"/>
                                        <p:tgtEl>
                                          <p:spTgt spid="10"/>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fade">
                                      <p:cBhvr>
                                        <p:cTn id="54" dur="600" fill="hold"/>
                                        <p:tgtEl>
                                          <p:spTgt spid="11"/>
                                        </p:tgtEl>
                                      </p:cBhvr>
                                    </p:animEffect>
                                    <p:anim calcmode="lin" valueType="num">
                                      <p:cBhvr>
                                        <p:cTn id="55" dur="600" fill="hold"/>
                                        <p:tgtEl>
                                          <p:spTgt spid="11"/>
                                        </p:tgtEl>
                                        <p:attrNameLst>
                                          <p:attrName>ppt_x</p:attrName>
                                        </p:attrNameLst>
                                      </p:cBhvr>
                                      <p:tavLst>
                                        <p:tav tm="0">
                                          <p:val>
                                            <p:strVal val="#ppt_x"/>
                                          </p:val>
                                        </p:tav>
                                        <p:tav tm="100000">
                                          <p:val>
                                            <p:strVal val="#ppt_x"/>
                                          </p:val>
                                        </p:tav>
                                      </p:tavLst>
                                    </p:anim>
                                    <p:anim calcmode="lin" valueType="num">
                                      <p:cBhvr>
                                        <p:cTn id="56" dur="600" fill="hold"/>
                                        <p:tgtEl>
                                          <p:spTgt spid="11"/>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2"/>
                                        </p:tgtEl>
                                        <p:attrNameLst>
                                          <p:attrName>style.visibility</p:attrName>
                                        </p:attrNameLst>
                                      </p:cBhvr>
                                      <p:to>
                                        <p:strVal val="visible"/>
                                      </p:to>
                                    </p:set>
                                    <p:animEffect transition="in" filter="fade">
                                      <p:cBhvr>
                                        <p:cTn id="59" dur="600" fill="hold"/>
                                        <p:tgtEl>
                                          <p:spTgt spid="12"/>
                                        </p:tgtEl>
                                      </p:cBhvr>
                                    </p:animEffect>
                                    <p:anim calcmode="lin" valueType="num">
                                      <p:cBhvr>
                                        <p:cTn id="60" dur="600" fill="hold"/>
                                        <p:tgtEl>
                                          <p:spTgt spid="12"/>
                                        </p:tgtEl>
                                        <p:attrNameLst>
                                          <p:attrName>ppt_x</p:attrName>
                                        </p:attrNameLst>
                                      </p:cBhvr>
                                      <p:tavLst>
                                        <p:tav tm="0">
                                          <p:val>
                                            <p:strVal val="#ppt_x"/>
                                          </p:val>
                                        </p:tav>
                                        <p:tav tm="100000">
                                          <p:val>
                                            <p:strVal val="#ppt_x"/>
                                          </p:val>
                                        </p:tav>
                                      </p:tavLst>
                                    </p:anim>
                                    <p:anim calcmode="lin" valueType="num">
                                      <p:cBhvr>
                                        <p:cTn id="61" dur="600" fill="hold"/>
                                        <p:tgtEl>
                                          <p:spTgt spid="12"/>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13"/>
                                        </p:tgtEl>
                                        <p:attrNameLst>
                                          <p:attrName>style.visibility</p:attrName>
                                        </p:attrNameLst>
                                      </p:cBhvr>
                                      <p:to>
                                        <p:strVal val="visible"/>
                                      </p:to>
                                    </p:set>
                                    <p:animEffect transition="in" filter="fade">
                                      <p:cBhvr>
                                        <p:cTn id="64" dur="600" fill="hold"/>
                                        <p:tgtEl>
                                          <p:spTgt spid="13"/>
                                        </p:tgtEl>
                                      </p:cBhvr>
                                    </p:animEffect>
                                    <p:anim calcmode="lin" valueType="num">
                                      <p:cBhvr>
                                        <p:cTn id="65" dur="600" fill="hold"/>
                                        <p:tgtEl>
                                          <p:spTgt spid="13"/>
                                        </p:tgtEl>
                                        <p:attrNameLst>
                                          <p:attrName>ppt_x</p:attrName>
                                        </p:attrNameLst>
                                      </p:cBhvr>
                                      <p:tavLst>
                                        <p:tav tm="0">
                                          <p:val>
                                            <p:strVal val="#ppt_x"/>
                                          </p:val>
                                        </p:tav>
                                        <p:tav tm="100000">
                                          <p:val>
                                            <p:strVal val="#ppt_x"/>
                                          </p:val>
                                        </p:tav>
                                      </p:tavLst>
                                    </p:anim>
                                    <p:anim calcmode="lin" valueType="num">
                                      <p:cBhvr>
                                        <p:cTn id="66" dur="600" fill="hold"/>
                                        <p:tgtEl>
                                          <p:spTgt spid="13"/>
                                        </p:tgtEl>
                                        <p:attrNameLst>
                                          <p:attrName>ppt_y</p:attrName>
                                        </p:attrNameLst>
                                      </p:cBhvr>
                                      <p:tavLst>
                                        <p:tav tm="0">
                                          <p:val>
                                            <p:strVal val="#ppt_y+.1"/>
                                          </p:val>
                                        </p:tav>
                                        <p:tav tm="100000">
                                          <p:val>
                                            <p:strVal val="#ppt_y"/>
                                          </p:val>
                                        </p:tav>
                                      </p:tavLst>
                                    </p:anim>
                                  </p:childTnLst>
                                </p:cTn>
                              </p:par>
                            </p:childTnLst>
                          </p:cTn>
                        </p:par>
                        <p:par>
                          <p:cTn id="67" fill="hold">
                            <p:stCondLst>
                              <p:cond delay="2150"/>
                            </p:stCondLst>
                            <p:childTnLst>
                              <p:par>
                                <p:cTn id="68" presetID="10" presetClass="entr" presetSubtype="0" fill="hold" grpId="0" nodeType="afterEffect">
                                  <p:stCondLst>
                                    <p:cond delay="0"/>
                                  </p:stCondLst>
                                  <p:childTnLst>
                                    <p:set>
                                      <p:cBhvr>
                                        <p:cTn id="69" dur="1" fill="hold">
                                          <p:stCondLst>
                                            <p:cond delay="0"/>
                                          </p:stCondLst>
                                        </p:cTn>
                                        <p:tgtEl>
                                          <p:spTgt spid="14"/>
                                        </p:tgtEl>
                                        <p:attrNameLst>
                                          <p:attrName>style.visibility</p:attrName>
                                        </p:attrNameLst>
                                      </p:cBhvr>
                                      <p:to>
                                        <p:strVal val="visible"/>
                                      </p:to>
                                    </p:set>
                                    <p:animEffect transition="in" filter="fade">
                                      <p:cBhvr>
                                        <p:cTn id="70" dur="450" fill="hold"/>
                                        <p:tgtEl>
                                          <p:spTgt spid="1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15"/>
                                        </p:tgtEl>
                                        <p:attrNameLst>
                                          <p:attrName>style.visibility</p:attrName>
                                        </p:attrNameLst>
                                      </p:cBhvr>
                                      <p:to>
                                        <p:strVal val="visible"/>
                                      </p:to>
                                    </p:set>
                                    <p:animEffect transition="in" filter="fade">
                                      <p:cBhvr>
                                        <p:cTn id="73" dur="450" fill="hold"/>
                                        <p:tgtEl>
                                          <p:spTgt spid="15"/>
                                        </p:tgtEl>
                                      </p:cBhvr>
                                    </p:animEffect>
                                  </p:childTnLst>
                                </p:cTn>
                              </p:par>
                            </p:childTnLst>
                          </p:cTn>
                        </p:par>
                        <p:par>
                          <p:cTn id="74" fill="hold">
                            <p:stCondLst>
                              <p:cond delay="2600"/>
                            </p:stCondLst>
                            <p:childTnLst>
                              <p:par>
                                <p:cTn id="75" presetID="10" presetClass="entr" presetSubtype="0" fill="hold" grpId="0" nodeType="afterEffect">
                                  <p:stCondLst>
                                    <p:cond delay="0"/>
                                  </p:stCondLst>
                                  <p:childTnLst>
                                    <p:set>
                                      <p:cBhvr>
                                        <p:cTn id="76" dur="1" fill="hold">
                                          <p:stCondLst>
                                            <p:cond delay="0"/>
                                          </p:stCondLst>
                                        </p:cTn>
                                        <p:tgtEl>
                                          <p:spTgt spid="16"/>
                                        </p:tgtEl>
                                        <p:attrNameLst>
                                          <p:attrName>style.visibility</p:attrName>
                                        </p:attrNameLst>
                                      </p:cBhvr>
                                      <p:to>
                                        <p:strVal val="visible"/>
                                      </p:to>
                                    </p:set>
                                    <p:animEffect transition="in" filter="fade">
                                      <p:cBhvr>
                                        <p:cTn id="77" dur="450" fill="hold"/>
                                        <p:tgtEl>
                                          <p:spTgt spid="16"/>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17"/>
                                        </p:tgtEl>
                                        <p:attrNameLst>
                                          <p:attrName>style.visibility</p:attrName>
                                        </p:attrNameLst>
                                      </p:cBhvr>
                                      <p:to>
                                        <p:strVal val="visible"/>
                                      </p:to>
                                    </p:set>
                                    <p:animEffect transition="in" filter="fade">
                                      <p:cBhvr>
                                        <p:cTn id="80" dur="450" fill="hold"/>
                                        <p:tgtEl>
                                          <p:spTgt spid="17"/>
                                        </p:tgtEl>
                                      </p:cBhvr>
                                    </p:animEffect>
                                  </p:childTnLst>
                                </p:cTn>
                              </p:par>
                            </p:childTnLst>
                          </p:cTn>
                        </p:par>
                        <p:par>
                          <p:cTn id="81" fill="hold">
                            <p:stCondLst>
                              <p:cond delay="3050"/>
                            </p:stCondLst>
                            <p:childTnLst>
                              <p:par>
                                <p:cTn id="82" presetID="10" presetClass="entr" presetSubtype="0" fill="hold" grpId="0" nodeType="afterEffect">
                                  <p:stCondLst>
                                    <p:cond delay="0"/>
                                  </p:stCondLst>
                                  <p:childTnLst>
                                    <p:set>
                                      <p:cBhvr>
                                        <p:cTn id="83" dur="1" fill="hold">
                                          <p:stCondLst>
                                            <p:cond delay="0"/>
                                          </p:stCondLst>
                                        </p:cTn>
                                        <p:tgtEl>
                                          <p:spTgt spid="18"/>
                                        </p:tgtEl>
                                        <p:attrNameLst>
                                          <p:attrName>style.visibility</p:attrName>
                                        </p:attrNameLst>
                                      </p:cBhvr>
                                      <p:to>
                                        <p:strVal val="visible"/>
                                      </p:to>
                                    </p:set>
                                    <p:animEffect transition="in" filter="fade">
                                      <p:cBhvr>
                                        <p:cTn id="84" dur="450" fill="hold"/>
                                        <p:tgtEl>
                                          <p:spTgt spid="18"/>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19"/>
                                        </p:tgtEl>
                                        <p:attrNameLst>
                                          <p:attrName>style.visibility</p:attrName>
                                        </p:attrNameLst>
                                      </p:cBhvr>
                                      <p:to>
                                        <p:strVal val="visible"/>
                                      </p:to>
                                    </p:set>
                                    <p:animEffect transition="in" filter="fade">
                                      <p:cBhvr>
                                        <p:cTn id="87" dur="450" fill="hold"/>
                                        <p:tgtEl>
                                          <p:spTgt spid="19"/>
                                        </p:tgtEl>
                                      </p:cBhvr>
                                    </p:animEffect>
                                  </p:childTnLst>
                                </p:cTn>
                              </p:par>
                            </p:childTnLst>
                          </p:cTn>
                        </p:par>
                        <p:par>
                          <p:cTn id="88" fill="hold">
                            <p:stCondLst>
                              <p:cond delay="3500"/>
                            </p:stCondLst>
                            <p:childTnLst>
                              <p:par>
                                <p:cTn id="89" presetID="10" presetClass="entr" presetSubtype="0" fill="hold" grpId="0" nodeType="afterEffect">
                                  <p:stCondLst>
                                    <p:cond delay="0"/>
                                  </p:stCondLst>
                                  <p:childTnLst>
                                    <p:set>
                                      <p:cBhvr>
                                        <p:cTn id="90" dur="1" fill="hold">
                                          <p:stCondLst>
                                            <p:cond delay="0"/>
                                          </p:stCondLst>
                                        </p:cTn>
                                        <p:tgtEl>
                                          <p:spTgt spid="20"/>
                                        </p:tgtEl>
                                        <p:attrNameLst>
                                          <p:attrName>style.visibility</p:attrName>
                                        </p:attrNameLst>
                                      </p:cBhvr>
                                      <p:to>
                                        <p:strVal val="visible"/>
                                      </p:to>
                                    </p:set>
                                    <p:animEffect transition="in" filter="fade">
                                      <p:cBhvr>
                                        <p:cTn id="91" dur="400" fill="hold"/>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685800"/>
          </a:xfrm>
          <a:prstGeom prst="rect">
            <a:avLst/>
          </a:prstGeom>
          <a:noFill/>
          <a:ln/>
        </p:spPr>
        <p:txBody>
          <a:bodyPr wrap="square" lIns="0" tIns="0" rIns="0" bIns="0" rtlCol="0" anchor="ctr"/>
          <a:lstStyle/>
          <a:p>
            <a:pPr marL="0" indent="0" algn="l">
              <a:buNone/>
            </a:pPr>
            <a:r>
              <a:rPr lang="en-US" sz="3200" b="1" dirty="0">
                <a:solidFill>
                  <a:schemeClr val="tx1"/>
                </a:solidFill>
              </a:rPr>
              <a:t>Under the hood: technical architecture</a:t>
            </a:r>
            <a:endParaRPr lang="en-US" sz="3200" dirty="0"/>
          </a:p>
        </p:txBody>
      </p:sp>
      <p:pic>
        <p:nvPicPr>
          <p:cNvPr id="3" name="Image 0" descr="Architecture: Meta glasses stream to the Android phone, which does face recognition and OCR on-device and sends text over USB to a FastAPI gateway on the Jetson; the gateway uses local Gemma 3 via Ollama or Meta's Muse Spark 1.1 over Wi-Fi, chosen by AI_BACKEND."/>
          <p:cNvPicPr>
            <a:picLocks noChangeAspect="1"/>
          </p:cNvPicPr>
          <p:nvPr/>
        </p:nvPicPr>
        <p:blipFill>
          <a:blip r:embed="rId3"/>
          <a:stretch>
            <a:fillRect/>
          </a:stretch>
        </p:blipFill>
        <p:spPr>
          <a:xfrm>
            <a:off x="1112368" y="1188720"/>
            <a:ext cx="9966960" cy="5029200"/>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700" fill="hold"/>
                                        <p:tgtEl>
                                          <p:spTgt spid="3"/>
                                        </p:tgtEl>
                                      </p:cBhvr>
                                    </p:animEffect>
                                    <p:anim calcmode="lin" valueType="num">
                                      <p:cBhvr>
                                        <p:cTn id="8" dur="700" fill="hold"/>
                                        <p:tgtEl>
                                          <p:spTgt spid="3"/>
                                        </p:tgtEl>
                                        <p:attrNameLst>
                                          <p:attrName>ppt_w</p:attrName>
                                        </p:attrNameLst>
                                      </p:cBhvr>
                                      <p:tavLst>
                                        <p:tav tm="0">
                                          <p:val>
                                            <p:fltVal val="0"/>
                                          </p:val>
                                        </p:tav>
                                        <p:tav tm="100000">
                                          <p:val>
                                            <p:strVal val="#ppt_w"/>
                                          </p:val>
                                        </p:tav>
                                      </p:tavLst>
                                    </p:anim>
                                    <p:anim calcmode="lin" valueType="num">
                                      <p:cBhvr>
                                        <p:cTn id="9" dur="700" fill="hold"/>
                                        <p:tgtEl>
                                          <p:spTgt spid="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Demo title"/>
          <p:cNvSpPr txBox="1"/>
          <p:nvPr/>
        </p:nvSpPr>
        <p:spPr>
          <a:xfrm>
            <a:off x="640080" y="822960"/>
            <a:ext cx="7315200" cy="914400"/>
          </a:xfrm>
          <a:prstGeom prst="rect">
            <a:avLst/>
          </a:prstGeom>
          <a:noFill/>
        </p:spPr>
        <p:txBody>
          <a:bodyPr wrap="square" lIns="0" rIns="0" tIns="0" bIns="0" anchor="b">
            <a:spAutoFit/>
          </a:bodyPr>
          <a:lstStyle/>
          <a:p>
            <a:pPr algn="l">
              <a:spcAft>
                <a:spcPts val="600"/>
              </a:spcAft>
            </a:pPr>
            <a:r>
              <a:rPr sz="5400" b="1" i="0">
                <a:solidFill>
                  <a:schemeClr val="bg1"/>
                </a:solidFill>
              </a:rPr>
              <a:t>Live demo</a:t>
            </a:r>
          </a:p>
        </p:txBody>
      </p:sp>
      <p:sp>
        <p:nvSpPr>
          <p:cNvPr id="3" name="Demo subtitle"/>
          <p:cNvSpPr txBox="1"/>
          <p:nvPr/>
        </p:nvSpPr>
        <p:spPr>
          <a:xfrm>
            <a:off x="640080" y="1874519"/>
            <a:ext cx="8229600" cy="457200"/>
          </a:xfrm>
          <a:prstGeom prst="rect">
            <a:avLst/>
          </a:prstGeom>
          <a:noFill/>
        </p:spPr>
        <p:txBody>
          <a:bodyPr wrap="square" lIns="0" rIns="0" tIns="0" bIns="0" anchor="t">
            <a:spAutoFit/>
          </a:bodyPr>
          <a:lstStyle/>
          <a:p>
            <a:pPr algn="l">
              <a:spcAft>
                <a:spcPts val="600"/>
              </a:spcAft>
            </a:pPr>
            <a:r>
              <a:rPr sz="2200" b="0" i="0">
                <a:solidFill>
                  <a:schemeClr val="accent2"/>
                </a:solidFill>
              </a:rPr>
              <a:t>Three things WF Meta does for a relationship manager</a:t>
            </a:r>
          </a:p>
        </p:txBody>
      </p:sp>
      <p:sp>
        <p:nvSpPr>
          <p:cNvPr id="4" name="Demo card 1"/>
          <p:cNvSpPr/>
          <p:nvPr/>
        </p:nvSpPr>
        <p:spPr>
          <a:xfrm>
            <a:off x="640080" y="2788920"/>
            <a:ext cx="3429000" cy="2240280"/>
          </a:xfrm>
          <a:prstGeom prst="roundRect">
            <a:avLst>
              <a:gd name="adj" fmla="val 6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Demo icon 1 circle"/>
          <p:cNvSpPr/>
          <p:nvPr/>
        </p:nvSpPr>
        <p:spPr>
          <a:xfrm>
            <a:off x="914400" y="3063240"/>
            <a:ext cx="640080" cy="640080"/>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Demo icon 1" descr="user_r.png"/>
          <p:cNvPicPr>
            <a:picLocks noChangeAspect="1"/>
          </p:cNvPicPr>
          <p:nvPr/>
        </p:nvPicPr>
        <p:blipFill>
          <a:blip r:embed="rId3"/>
          <a:stretch>
            <a:fillRect/>
          </a:stretch>
        </p:blipFill>
        <p:spPr>
          <a:xfrm>
            <a:off x="1074420" y="3223260"/>
            <a:ext cx="320040" cy="320040"/>
          </a:xfrm>
          <a:prstGeom prst="rect">
            <a:avLst/>
          </a:prstGeom>
        </p:spPr>
      </p:pic>
      <p:sp>
        <p:nvSpPr>
          <p:cNvPr id="7" name="Demo number 1"/>
          <p:cNvSpPr txBox="1"/>
          <p:nvPr/>
        </p:nvSpPr>
        <p:spPr>
          <a:xfrm>
            <a:off x="3154680" y="2971800"/>
            <a:ext cx="640080" cy="731520"/>
          </a:xfrm>
          <a:prstGeom prst="rect">
            <a:avLst/>
          </a:prstGeom>
          <a:noFill/>
        </p:spPr>
        <p:txBody>
          <a:bodyPr wrap="square" lIns="0" rIns="0" tIns="0" bIns="0" anchor="t">
            <a:spAutoFit/>
          </a:bodyPr>
          <a:lstStyle/>
          <a:p>
            <a:pPr algn="r">
              <a:spcAft>
                <a:spcPts val="600"/>
              </a:spcAft>
            </a:pPr>
            <a:r>
              <a:rPr sz="4000" b="1" i="0">
                <a:solidFill>
                  <a:schemeClr val="accent2"/>
                </a:solidFill>
              </a:rPr>
              <a:t>1</a:t>
            </a:r>
          </a:p>
        </p:txBody>
      </p:sp>
      <p:sp>
        <p:nvSpPr>
          <p:cNvPr id="8" name="Demo head 1"/>
          <p:cNvSpPr txBox="1"/>
          <p:nvPr/>
        </p:nvSpPr>
        <p:spPr>
          <a:xfrm>
            <a:off x="914400" y="3840480"/>
            <a:ext cx="2880360" cy="365760"/>
          </a:xfrm>
          <a:prstGeom prst="rect">
            <a:avLst/>
          </a:prstGeom>
          <a:noFill/>
        </p:spPr>
        <p:txBody>
          <a:bodyPr wrap="square" lIns="0" rIns="0" tIns="0" bIns="0" anchor="t">
            <a:spAutoFit/>
          </a:bodyPr>
          <a:lstStyle/>
          <a:p>
            <a:pPr algn="l">
              <a:spcAft>
                <a:spcPts val="600"/>
              </a:spcAft>
            </a:pPr>
            <a:r>
              <a:rPr sz="1800" b="1" i="0">
                <a:solidFill>
                  <a:schemeClr val="tx1"/>
                </a:solidFill>
              </a:rPr>
              <a:t>Recognise the customer</a:t>
            </a:r>
          </a:p>
        </p:txBody>
      </p:sp>
      <p:sp>
        <p:nvSpPr>
          <p:cNvPr id="9" name="Demo body 1"/>
          <p:cNvSpPr txBox="1"/>
          <p:nvPr/>
        </p:nvSpPr>
        <p:spPr>
          <a:xfrm>
            <a:off x="914400" y="4251960"/>
            <a:ext cx="2880360" cy="685800"/>
          </a:xfrm>
          <a:prstGeom prst="rect">
            <a:avLst/>
          </a:prstGeom>
          <a:noFill/>
        </p:spPr>
        <p:txBody>
          <a:bodyPr wrap="square" lIns="0" rIns="0" tIns="0" bIns="0" anchor="t">
            <a:spAutoFit/>
          </a:bodyPr>
          <a:lstStyle/>
          <a:p>
            <a:pPr algn="l">
              <a:spcAft>
                <a:spcPts val="600"/>
              </a:spcAft>
            </a:pPr>
            <a:r>
              <a:rPr sz="1300" b="0" i="0">
                <a:solidFill>
                  <a:schemeClr val="accent3"/>
                </a:solidFill>
              </a:rPr>
              <a:t>Spots the customer on the live camera and briefs the RM on their accounts.</a:t>
            </a:r>
          </a:p>
        </p:txBody>
      </p:sp>
      <p:sp>
        <p:nvSpPr>
          <p:cNvPr id="10" name="Demo card 2"/>
          <p:cNvSpPr/>
          <p:nvPr/>
        </p:nvSpPr>
        <p:spPr>
          <a:xfrm>
            <a:off x="4453128" y="2788920"/>
            <a:ext cx="3429000" cy="2240280"/>
          </a:xfrm>
          <a:prstGeom prst="roundRect">
            <a:avLst>
              <a:gd name="adj" fmla="val 6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emo icon 2 circle"/>
          <p:cNvSpPr/>
          <p:nvPr/>
        </p:nvSpPr>
        <p:spPr>
          <a:xfrm>
            <a:off x="4727448" y="3063240"/>
            <a:ext cx="640080" cy="640080"/>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Demo icon 2" descr="doc_r.png"/>
          <p:cNvPicPr>
            <a:picLocks noChangeAspect="1"/>
          </p:cNvPicPr>
          <p:nvPr/>
        </p:nvPicPr>
        <p:blipFill>
          <a:blip r:embed="rId4"/>
          <a:stretch>
            <a:fillRect/>
          </a:stretch>
        </p:blipFill>
        <p:spPr>
          <a:xfrm>
            <a:off x="4887468" y="3223260"/>
            <a:ext cx="320040" cy="320040"/>
          </a:xfrm>
          <a:prstGeom prst="rect">
            <a:avLst/>
          </a:prstGeom>
        </p:spPr>
      </p:pic>
      <p:sp>
        <p:nvSpPr>
          <p:cNvPr id="13" name="Demo number 2"/>
          <p:cNvSpPr txBox="1"/>
          <p:nvPr/>
        </p:nvSpPr>
        <p:spPr>
          <a:xfrm>
            <a:off x="6967728" y="2971800"/>
            <a:ext cx="640080" cy="731520"/>
          </a:xfrm>
          <a:prstGeom prst="rect">
            <a:avLst/>
          </a:prstGeom>
          <a:noFill/>
        </p:spPr>
        <p:txBody>
          <a:bodyPr wrap="square" lIns="0" rIns="0" tIns="0" bIns="0" anchor="t">
            <a:spAutoFit/>
          </a:bodyPr>
          <a:lstStyle/>
          <a:p>
            <a:pPr algn="r">
              <a:spcAft>
                <a:spcPts val="600"/>
              </a:spcAft>
            </a:pPr>
            <a:r>
              <a:rPr sz="4000" b="1" i="0">
                <a:solidFill>
                  <a:schemeClr val="accent2"/>
                </a:solidFill>
              </a:rPr>
              <a:t>2</a:t>
            </a:r>
          </a:p>
        </p:txBody>
      </p:sp>
      <p:sp>
        <p:nvSpPr>
          <p:cNvPr id="14" name="Demo head 2"/>
          <p:cNvSpPr txBox="1"/>
          <p:nvPr/>
        </p:nvSpPr>
        <p:spPr>
          <a:xfrm>
            <a:off x="4727448" y="3840480"/>
            <a:ext cx="2880360" cy="365760"/>
          </a:xfrm>
          <a:prstGeom prst="rect">
            <a:avLst/>
          </a:prstGeom>
          <a:noFill/>
        </p:spPr>
        <p:txBody>
          <a:bodyPr wrap="square" lIns="0" rIns="0" tIns="0" bIns="0" anchor="t">
            <a:spAutoFit/>
          </a:bodyPr>
          <a:lstStyle/>
          <a:p>
            <a:pPr algn="l">
              <a:spcAft>
                <a:spcPts val="600"/>
              </a:spcAft>
            </a:pPr>
            <a:r>
              <a:rPr sz="1800" b="1" i="0">
                <a:solidFill>
                  <a:schemeClr val="tx1"/>
                </a:solidFill>
              </a:rPr>
              <a:t>Read a document</a:t>
            </a:r>
          </a:p>
        </p:txBody>
      </p:sp>
      <p:sp>
        <p:nvSpPr>
          <p:cNvPr id="15" name="Demo body 2"/>
          <p:cNvSpPr txBox="1"/>
          <p:nvPr/>
        </p:nvSpPr>
        <p:spPr>
          <a:xfrm>
            <a:off x="4727448" y="4251960"/>
            <a:ext cx="2880360" cy="685800"/>
          </a:xfrm>
          <a:prstGeom prst="rect">
            <a:avLst/>
          </a:prstGeom>
          <a:noFill/>
        </p:spPr>
        <p:txBody>
          <a:bodyPr wrap="square" lIns="0" rIns="0" tIns="0" bIns="0" anchor="t">
            <a:spAutoFit/>
          </a:bodyPr>
          <a:lstStyle/>
          <a:p>
            <a:pPr algn="l">
              <a:spcAft>
                <a:spcPts val="600"/>
              </a:spcAft>
            </a:pPr>
            <a:r>
              <a:rPr sz="1300" b="0" i="0">
                <a:solidFill>
                  <a:schemeClr val="accent3"/>
                </a:solidFill>
              </a:rPr>
              <a:t>Reads the page the RM is looking at, explains it and flags risks.</a:t>
            </a:r>
          </a:p>
        </p:txBody>
      </p:sp>
      <p:sp>
        <p:nvSpPr>
          <p:cNvPr id="16" name="Demo card 3"/>
          <p:cNvSpPr/>
          <p:nvPr/>
        </p:nvSpPr>
        <p:spPr>
          <a:xfrm>
            <a:off x="8266176" y="2788920"/>
            <a:ext cx="3429000" cy="2240280"/>
          </a:xfrm>
          <a:prstGeom prst="roundRect">
            <a:avLst>
              <a:gd name="adj" fmla="val 6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emo icon 3 circle"/>
          <p:cNvSpPr/>
          <p:nvPr/>
        </p:nvSpPr>
        <p:spPr>
          <a:xfrm>
            <a:off x="8540496" y="3063240"/>
            <a:ext cx="640080" cy="640080"/>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Demo icon 3" descr="chat_r.png"/>
          <p:cNvPicPr>
            <a:picLocks noChangeAspect="1"/>
          </p:cNvPicPr>
          <p:nvPr/>
        </p:nvPicPr>
        <p:blipFill>
          <a:blip r:embed="rId5"/>
          <a:stretch>
            <a:fillRect/>
          </a:stretch>
        </p:blipFill>
        <p:spPr>
          <a:xfrm>
            <a:off x="8700516" y="3223260"/>
            <a:ext cx="320040" cy="320040"/>
          </a:xfrm>
          <a:prstGeom prst="rect">
            <a:avLst/>
          </a:prstGeom>
        </p:spPr>
      </p:pic>
      <p:sp>
        <p:nvSpPr>
          <p:cNvPr id="19" name="Demo number 3"/>
          <p:cNvSpPr txBox="1"/>
          <p:nvPr/>
        </p:nvSpPr>
        <p:spPr>
          <a:xfrm>
            <a:off x="10780776" y="2971800"/>
            <a:ext cx="640080" cy="731520"/>
          </a:xfrm>
          <a:prstGeom prst="rect">
            <a:avLst/>
          </a:prstGeom>
          <a:noFill/>
        </p:spPr>
        <p:txBody>
          <a:bodyPr wrap="square" lIns="0" rIns="0" tIns="0" bIns="0" anchor="t">
            <a:spAutoFit/>
          </a:bodyPr>
          <a:lstStyle/>
          <a:p>
            <a:pPr algn="r">
              <a:spcAft>
                <a:spcPts val="600"/>
              </a:spcAft>
            </a:pPr>
            <a:r>
              <a:rPr sz="4000" b="1" i="0">
                <a:solidFill>
                  <a:schemeClr val="accent2"/>
                </a:solidFill>
              </a:rPr>
              <a:t>3</a:t>
            </a:r>
          </a:p>
        </p:txBody>
      </p:sp>
      <p:sp>
        <p:nvSpPr>
          <p:cNvPr id="20" name="Demo head 3"/>
          <p:cNvSpPr txBox="1"/>
          <p:nvPr/>
        </p:nvSpPr>
        <p:spPr>
          <a:xfrm>
            <a:off x="8540496" y="3840480"/>
            <a:ext cx="2880360" cy="365760"/>
          </a:xfrm>
          <a:prstGeom prst="rect">
            <a:avLst/>
          </a:prstGeom>
          <a:noFill/>
        </p:spPr>
        <p:txBody>
          <a:bodyPr wrap="square" lIns="0" rIns="0" tIns="0" bIns="0" anchor="t">
            <a:spAutoFit/>
          </a:bodyPr>
          <a:lstStyle/>
          <a:p>
            <a:pPr algn="l">
              <a:spcAft>
                <a:spcPts val="600"/>
              </a:spcAft>
            </a:pPr>
            <a:r>
              <a:rPr sz="1800" b="1" i="0">
                <a:solidFill>
                  <a:schemeClr val="tx1"/>
                </a:solidFill>
              </a:rPr>
              <a:t>Answer spoken questions</a:t>
            </a:r>
          </a:p>
        </p:txBody>
      </p:sp>
      <p:sp>
        <p:nvSpPr>
          <p:cNvPr id="21" name="Demo body 3"/>
          <p:cNvSpPr txBox="1"/>
          <p:nvPr/>
        </p:nvSpPr>
        <p:spPr>
          <a:xfrm>
            <a:off x="8540496" y="4251960"/>
            <a:ext cx="2880360" cy="685800"/>
          </a:xfrm>
          <a:prstGeom prst="rect">
            <a:avLst/>
          </a:prstGeom>
          <a:noFill/>
        </p:spPr>
        <p:txBody>
          <a:bodyPr wrap="square" lIns="0" rIns="0" tIns="0" bIns="0" anchor="t">
            <a:spAutoFit/>
          </a:bodyPr>
          <a:lstStyle/>
          <a:p>
            <a:pPr algn="l">
              <a:spcAft>
                <a:spcPts val="600"/>
              </a:spcAft>
            </a:pPr>
            <a:r>
              <a:rPr sz="1300" b="0" i="0">
                <a:solidFill>
                  <a:schemeClr val="accent3"/>
                </a:solidFill>
              </a:rPr>
              <a:t>Replies through the glasses speaker, so the RM keeps eye contact.</a:t>
            </a:r>
          </a:p>
        </p:txBody>
      </p:sp>
      <p:sp>
        <p:nvSpPr>
          <p:cNvPr id="22" name="Demo disclaimer"/>
          <p:cNvSpPr txBox="1"/>
          <p:nvPr/>
        </p:nvSpPr>
        <p:spPr>
          <a:xfrm>
            <a:off x="640080" y="5760720"/>
            <a:ext cx="7315200" cy="274320"/>
          </a:xfrm>
          <a:prstGeom prst="rect">
            <a:avLst/>
          </a:prstGeom>
          <a:noFill/>
        </p:spPr>
        <p:txBody>
          <a:bodyPr wrap="square" lIns="0" rIns="0" tIns="0" bIns="0" anchor="t">
            <a:spAutoFit/>
          </a:bodyPr>
          <a:lstStyle/>
          <a:p>
            <a:pPr algn="l">
              <a:spcAft>
                <a:spcPts val="600"/>
              </a:spcAft>
            </a:pPr>
            <a:r>
              <a:rPr sz="1100" b="0" i="1">
                <a:solidFill>
                  <a:schemeClr val="bg1"/>
                </a:solidFill>
              </a:rPr>
              <a:t>All customer data in the demo is fictional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00" fill="hold"/>
                                        <p:tgtEl>
                                          <p:spTgt spid="2"/>
                                        </p:tgtEl>
                                      </p:cBhvr>
                                    </p:animEffect>
                                    <p:anim calcmode="lin" valueType="num">
                                      <p:cBhvr>
                                        <p:cTn id="8" dur="700" fill="hold"/>
                                        <p:tgtEl>
                                          <p:spTgt spid="2"/>
                                        </p:tgtEl>
                                        <p:attrNameLst>
                                          <p:attrName>ppt_x</p:attrName>
                                        </p:attrNameLst>
                                      </p:cBhvr>
                                      <p:tavLst>
                                        <p:tav tm="0">
                                          <p:val>
                                            <p:strVal val="#ppt_x"/>
                                          </p:val>
                                        </p:tav>
                                        <p:tav tm="100000">
                                          <p:val>
                                            <p:strVal val="#ppt_x"/>
                                          </p:val>
                                        </p:tav>
                                      </p:tavLst>
                                    </p:anim>
                                    <p:anim calcmode="lin" valueType="num">
                                      <p:cBhvr>
                                        <p:cTn id="9" dur="7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25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700" fill="hold"/>
                                        <p:tgtEl>
                                          <p:spTgt spid="3"/>
                                        </p:tgtEl>
                                      </p:cBhvr>
                                    </p:animEffect>
                                    <p:anim calcmode="lin" valueType="num">
                                      <p:cBhvr>
                                        <p:cTn id="13" dur="700" fill="hold"/>
                                        <p:tgtEl>
                                          <p:spTgt spid="3"/>
                                        </p:tgtEl>
                                        <p:attrNameLst>
                                          <p:attrName>ppt_x</p:attrName>
                                        </p:attrNameLst>
                                      </p:cBhvr>
                                      <p:tavLst>
                                        <p:tav tm="0">
                                          <p:val>
                                            <p:strVal val="#ppt_x"/>
                                          </p:val>
                                        </p:tav>
                                        <p:tav tm="100000">
                                          <p:val>
                                            <p:strVal val="#ppt_x"/>
                                          </p:val>
                                        </p:tav>
                                      </p:tavLst>
                                    </p:anim>
                                    <p:anim calcmode="lin" valueType="num">
                                      <p:cBhvr>
                                        <p:cTn id="14" dur="700" fill="hold"/>
                                        <p:tgtEl>
                                          <p:spTgt spid="3"/>
                                        </p:tgtEl>
                                        <p:attrNameLst>
                                          <p:attrName>ppt_y</p:attrName>
                                        </p:attrNameLst>
                                      </p:cBhvr>
                                      <p:tavLst>
                                        <p:tav tm="0">
                                          <p:val>
                                            <p:strVal val="#ppt_y+.1"/>
                                          </p:val>
                                        </p:tav>
                                        <p:tav tm="100000">
                                          <p:val>
                                            <p:strVal val="#ppt_y"/>
                                          </p:val>
                                        </p:tav>
                                      </p:tavLst>
                                    </p:anim>
                                  </p:childTnLst>
                                </p:cTn>
                              </p:par>
                            </p:childTnLst>
                          </p:cTn>
                        </p:par>
                        <p:par>
                          <p:cTn id="15" fill="hold">
                            <p:stCondLst>
                              <p:cond delay="950"/>
                            </p:stCondLst>
                            <p:childTnLst>
                              <p:par>
                                <p:cTn id="16" presetID="42" presetClass="entr" presetSubtype="0" fill="hold" grpId="0" nodeType="after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550" fill="hold"/>
                                        <p:tgtEl>
                                          <p:spTgt spid="4"/>
                                        </p:tgtEl>
                                      </p:cBhvr>
                                    </p:animEffect>
                                    <p:anim calcmode="lin" valueType="num">
                                      <p:cBhvr>
                                        <p:cTn id="19" dur="550" fill="hold"/>
                                        <p:tgtEl>
                                          <p:spTgt spid="4"/>
                                        </p:tgtEl>
                                        <p:attrNameLst>
                                          <p:attrName>ppt_x</p:attrName>
                                        </p:attrNameLst>
                                      </p:cBhvr>
                                      <p:tavLst>
                                        <p:tav tm="0">
                                          <p:val>
                                            <p:strVal val="#ppt_x"/>
                                          </p:val>
                                        </p:tav>
                                        <p:tav tm="100000">
                                          <p:val>
                                            <p:strVal val="#ppt_x"/>
                                          </p:val>
                                        </p:tav>
                                      </p:tavLst>
                                    </p:anim>
                                    <p:anim calcmode="lin" valueType="num">
                                      <p:cBhvr>
                                        <p:cTn id="20" dur="550" fill="hold"/>
                                        <p:tgtEl>
                                          <p:spTgt spid="4"/>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50" fill="hold"/>
                                        <p:tgtEl>
                                          <p:spTgt spid="5"/>
                                        </p:tgtEl>
                                      </p:cBhvr>
                                    </p:animEffect>
                                    <p:anim calcmode="lin" valueType="num">
                                      <p:cBhvr>
                                        <p:cTn id="24" dur="550" fill="hold"/>
                                        <p:tgtEl>
                                          <p:spTgt spid="5"/>
                                        </p:tgtEl>
                                        <p:attrNameLst>
                                          <p:attrName>ppt_x</p:attrName>
                                        </p:attrNameLst>
                                      </p:cBhvr>
                                      <p:tavLst>
                                        <p:tav tm="0">
                                          <p:val>
                                            <p:strVal val="#ppt_x"/>
                                          </p:val>
                                        </p:tav>
                                        <p:tav tm="100000">
                                          <p:val>
                                            <p:strVal val="#ppt_x"/>
                                          </p:val>
                                        </p:tav>
                                      </p:tavLst>
                                    </p:anim>
                                    <p:anim calcmode="lin" valueType="num">
                                      <p:cBhvr>
                                        <p:cTn id="25" dur="550" fill="hold"/>
                                        <p:tgtEl>
                                          <p:spTgt spid="5"/>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550" fill="hold"/>
                                        <p:tgtEl>
                                          <p:spTgt spid="6"/>
                                        </p:tgtEl>
                                      </p:cBhvr>
                                    </p:animEffect>
                                    <p:anim calcmode="lin" valueType="num">
                                      <p:cBhvr>
                                        <p:cTn id="29" dur="550" fill="hold"/>
                                        <p:tgtEl>
                                          <p:spTgt spid="6"/>
                                        </p:tgtEl>
                                        <p:attrNameLst>
                                          <p:attrName>ppt_x</p:attrName>
                                        </p:attrNameLst>
                                      </p:cBhvr>
                                      <p:tavLst>
                                        <p:tav tm="0">
                                          <p:val>
                                            <p:strVal val="#ppt_x"/>
                                          </p:val>
                                        </p:tav>
                                        <p:tav tm="100000">
                                          <p:val>
                                            <p:strVal val="#ppt_x"/>
                                          </p:val>
                                        </p:tav>
                                      </p:tavLst>
                                    </p:anim>
                                    <p:anim calcmode="lin" valueType="num">
                                      <p:cBhvr>
                                        <p:cTn id="30" dur="550" fill="hold"/>
                                        <p:tgtEl>
                                          <p:spTgt spid="6"/>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550" fill="hold"/>
                                        <p:tgtEl>
                                          <p:spTgt spid="7"/>
                                        </p:tgtEl>
                                      </p:cBhvr>
                                    </p:animEffect>
                                    <p:anim calcmode="lin" valueType="num">
                                      <p:cBhvr>
                                        <p:cTn id="34" dur="550" fill="hold"/>
                                        <p:tgtEl>
                                          <p:spTgt spid="7"/>
                                        </p:tgtEl>
                                        <p:attrNameLst>
                                          <p:attrName>ppt_x</p:attrName>
                                        </p:attrNameLst>
                                      </p:cBhvr>
                                      <p:tavLst>
                                        <p:tav tm="0">
                                          <p:val>
                                            <p:strVal val="#ppt_x"/>
                                          </p:val>
                                        </p:tav>
                                        <p:tav tm="100000">
                                          <p:val>
                                            <p:strVal val="#ppt_x"/>
                                          </p:val>
                                        </p:tav>
                                      </p:tavLst>
                                    </p:anim>
                                    <p:anim calcmode="lin" valueType="num">
                                      <p:cBhvr>
                                        <p:cTn id="35" dur="550" fill="hold"/>
                                        <p:tgtEl>
                                          <p:spTgt spid="7"/>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550" fill="hold"/>
                                        <p:tgtEl>
                                          <p:spTgt spid="8"/>
                                        </p:tgtEl>
                                      </p:cBhvr>
                                    </p:animEffect>
                                    <p:anim calcmode="lin" valueType="num">
                                      <p:cBhvr>
                                        <p:cTn id="39" dur="550" fill="hold"/>
                                        <p:tgtEl>
                                          <p:spTgt spid="8"/>
                                        </p:tgtEl>
                                        <p:attrNameLst>
                                          <p:attrName>ppt_x</p:attrName>
                                        </p:attrNameLst>
                                      </p:cBhvr>
                                      <p:tavLst>
                                        <p:tav tm="0">
                                          <p:val>
                                            <p:strVal val="#ppt_x"/>
                                          </p:val>
                                        </p:tav>
                                        <p:tav tm="100000">
                                          <p:val>
                                            <p:strVal val="#ppt_x"/>
                                          </p:val>
                                        </p:tav>
                                      </p:tavLst>
                                    </p:anim>
                                    <p:anim calcmode="lin" valueType="num">
                                      <p:cBhvr>
                                        <p:cTn id="40" dur="550" fill="hold"/>
                                        <p:tgtEl>
                                          <p:spTgt spid="8"/>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fade">
                                      <p:cBhvr>
                                        <p:cTn id="43" dur="550" fill="hold"/>
                                        <p:tgtEl>
                                          <p:spTgt spid="9"/>
                                        </p:tgtEl>
                                      </p:cBhvr>
                                    </p:animEffect>
                                    <p:anim calcmode="lin" valueType="num">
                                      <p:cBhvr>
                                        <p:cTn id="44" dur="550" fill="hold"/>
                                        <p:tgtEl>
                                          <p:spTgt spid="9"/>
                                        </p:tgtEl>
                                        <p:attrNameLst>
                                          <p:attrName>ppt_x</p:attrName>
                                        </p:attrNameLst>
                                      </p:cBhvr>
                                      <p:tavLst>
                                        <p:tav tm="0">
                                          <p:val>
                                            <p:strVal val="#ppt_x"/>
                                          </p:val>
                                        </p:tav>
                                        <p:tav tm="100000">
                                          <p:val>
                                            <p:strVal val="#ppt_x"/>
                                          </p:val>
                                        </p:tav>
                                      </p:tavLst>
                                    </p:anim>
                                    <p:anim calcmode="lin" valueType="num">
                                      <p:cBhvr>
                                        <p:cTn id="45" dur="550" fill="hold"/>
                                        <p:tgtEl>
                                          <p:spTgt spid="9"/>
                                        </p:tgtEl>
                                        <p:attrNameLst>
                                          <p:attrName>ppt_y</p:attrName>
                                        </p:attrNameLst>
                                      </p:cBhvr>
                                      <p:tavLst>
                                        <p:tav tm="0">
                                          <p:val>
                                            <p:strVal val="#ppt_y+.1"/>
                                          </p:val>
                                        </p:tav>
                                        <p:tav tm="100000">
                                          <p:val>
                                            <p:strVal val="#ppt_y"/>
                                          </p:val>
                                        </p:tav>
                                      </p:tavLst>
                                    </p:anim>
                                  </p:childTnLst>
                                </p:cTn>
                              </p:par>
                            </p:childTnLst>
                          </p:cTn>
                        </p:par>
                        <p:par>
                          <p:cTn id="46" fill="hold">
                            <p:stCondLst>
                              <p:cond delay="1500"/>
                            </p:stCondLst>
                            <p:childTnLst>
                              <p:par>
                                <p:cTn id="47" presetID="42" presetClass="entr" presetSubtype="0" fill="hold" grpId="0" nodeType="after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550" fill="hold"/>
                                        <p:tgtEl>
                                          <p:spTgt spid="10"/>
                                        </p:tgtEl>
                                      </p:cBhvr>
                                    </p:animEffect>
                                    <p:anim calcmode="lin" valueType="num">
                                      <p:cBhvr>
                                        <p:cTn id="50" dur="550" fill="hold"/>
                                        <p:tgtEl>
                                          <p:spTgt spid="10"/>
                                        </p:tgtEl>
                                        <p:attrNameLst>
                                          <p:attrName>ppt_x</p:attrName>
                                        </p:attrNameLst>
                                      </p:cBhvr>
                                      <p:tavLst>
                                        <p:tav tm="0">
                                          <p:val>
                                            <p:strVal val="#ppt_x"/>
                                          </p:val>
                                        </p:tav>
                                        <p:tav tm="100000">
                                          <p:val>
                                            <p:strVal val="#ppt_x"/>
                                          </p:val>
                                        </p:tav>
                                      </p:tavLst>
                                    </p:anim>
                                    <p:anim calcmode="lin" valueType="num">
                                      <p:cBhvr>
                                        <p:cTn id="51" dur="550" fill="hold"/>
                                        <p:tgtEl>
                                          <p:spTgt spid="10"/>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fade">
                                      <p:cBhvr>
                                        <p:cTn id="54" dur="550" fill="hold"/>
                                        <p:tgtEl>
                                          <p:spTgt spid="11"/>
                                        </p:tgtEl>
                                      </p:cBhvr>
                                    </p:animEffect>
                                    <p:anim calcmode="lin" valueType="num">
                                      <p:cBhvr>
                                        <p:cTn id="55" dur="550" fill="hold"/>
                                        <p:tgtEl>
                                          <p:spTgt spid="11"/>
                                        </p:tgtEl>
                                        <p:attrNameLst>
                                          <p:attrName>ppt_x</p:attrName>
                                        </p:attrNameLst>
                                      </p:cBhvr>
                                      <p:tavLst>
                                        <p:tav tm="0">
                                          <p:val>
                                            <p:strVal val="#ppt_x"/>
                                          </p:val>
                                        </p:tav>
                                        <p:tav tm="100000">
                                          <p:val>
                                            <p:strVal val="#ppt_x"/>
                                          </p:val>
                                        </p:tav>
                                      </p:tavLst>
                                    </p:anim>
                                    <p:anim calcmode="lin" valueType="num">
                                      <p:cBhvr>
                                        <p:cTn id="56" dur="550" fill="hold"/>
                                        <p:tgtEl>
                                          <p:spTgt spid="11"/>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2"/>
                                        </p:tgtEl>
                                        <p:attrNameLst>
                                          <p:attrName>style.visibility</p:attrName>
                                        </p:attrNameLst>
                                      </p:cBhvr>
                                      <p:to>
                                        <p:strVal val="visible"/>
                                      </p:to>
                                    </p:set>
                                    <p:animEffect transition="in" filter="fade">
                                      <p:cBhvr>
                                        <p:cTn id="59" dur="550" fill="hold"/>
                                        <p:tgtEl>
                                          <p:spTgt spid="12"/>
                                        </p:tgtEl>
                                      </p:cBhvr>
                                    </p:animEffect>
                                    <p:anim calcmode="lin" valueType="num">
                                      <p:cBhvr>
                                        <p:cTn id="60" dur="550" fill="hold"/>
                                        <p:tgtEl>
                                          <p:spTgt spid="12"/>
                                        </p:tgtEl>
                                        <p:attrNameLst>
                                          <p:attrName>ppt_x</p:attrName>
                                        </p:attrNameLst>
                                      </p:cBhvr>
                                      <p:tavLst>
                                        <p:tav tm="0">
                                          <p:val>
                                            <p:strVal val="#ppt_x"/>
                                          </p:val>
                                        </p:tav>
                                        <p:tav tm="100000">
                                          <p:val>
                                            <p:strVal val="#ppt_x"/>
                                          </p:val>
                                        </p:tav>
                                      </p:tavLst>
                                    </p:anim>
                                    <p:anim calcmode="lin" valueType="num">
                                      <p:cBhvr>
                                        <p:cTn id="61" dur="550" fill="hold"/>
                                        <p:tgtEl>
                                          <p:spTgt spid="12"/>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13"/>
                                        </p:tgtEl>
                                        <p:attrNameLst>
                                          <p:attrName>style.visibility</p:attrName>
                                        </p:attrNameLst>
                                      </p:cBhvr>
                                      <p:to>
                                        <p:strVal val="visible"/>
                                      </p:to>
                                    </p:set>
                                    <p:animEffect transition="in" filter="fade">
                                      <p:cBhvr>
                                        <p:cTn id="64" dur="550" fill="hold"/>
                                        <p:tgtEl>
                                          <p:spTgt spid="13"/>
                                        </p:tgtEl>
                                      </p:cBhvr>
                                    </p:animEffect>
                                    <p:anim calcmode="lin" valueType="num">
                                      <p:cBhvr>
                                        <p:cTn id="65" dur="550" fill="hold"/>
                                        <p:tgtEl>
                                          <p:spTgt spid="13"/>
                                        </p:tgtEl>
                                        <p:attrNameLst>
                                          <p:attrName>ppt_x</p:attrName>
                                        </p:attrNameLst>
                                      </p:cBhvr>
                                      <p:tavLst>
                                        <p:tav tm="0">
                                          <p:val>
                                            <p:strVal val="#ppt_x"/>
                                          </p:val>
                                        </p:tav>
                                        <p:tav tm="100000">
                                          <p:val>
                                            <p:strVal val="#ppt_x"/>
                                          </p:val>
                                        </p:tav>
                                      </p:tavLst>
                                    </p:anim>
                                    <p:anim calcmode="lin" valueType="num">
                                      <p:cBhvr>
                                        <p:cTn id="66" dur="550" fill="hold"/>
                                        <p:tgtEl>
                                          <p:spTgt spid="13"/>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14"/>
                                        </p:tgtEl>
                                        <p:attrNameLst>
                                          <p:attrName>style.visibility</p:attrName>
                                        </p:attrNameLst>
                                      </p:cBhvr>
                                      <p:to>
                                        <p:strVal val="visible"/>
                                      </p:to>
                                    </p:set>
                                    <p:animEffect transition="in" filter="fade">
                                      <p:cBhvr>
                                        <p:cTn id="69" dur="550" fill="hold"/>
                                        <p:tgtEl>
                                          <p:spTgt spid="14"/>
                                        </p:tgtEl>
                                      </p:cBhvr>
                                    </p:animEffect>
                                    <p:anim calcmode="lin" valueType="num">
                                      <p:cBhvr>
                                        <p:cTn id="70" dur="550" fill="hold"/>
                                        <p:tgtEl>
                                          <p:spTgt spid="14"/>
                                        </p:tgtEl>
                                        <p:attrNameLst>
                                          <p:attrName>ppt_x</p:attrName>
                                        </p:attrNameLst>
                                      </p:cBhvr>
                                      <p:tavLst>
                                        <p:tav tm="0">
                                          <p:val>
                                            <p:strVal val="#ppt_x"/>
                                          </p:val>
                                        </p:tav>
                                        <p:tav tm="100000">
                                          <p:val>
                                            <p:strVal val="#ppt_x"/>
                                          </p:val>
                                        </p:tav>
                                      </p:tavLst>
                                    </p:anim>
                                    <p:anim calcmode="lin" valueType="num">
                                      <p:cBhvr>
                                        <p:cTn id="71" dur="550" fill="hold"/>
                                        <p:tgtEl>
                                          <p:spTgt spid="14"/>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15"/>
                                        </p:tgtEl>
                                        <p:attrNameLst>
                                          <p:attrName>style.visibility</p:attrName>
                                        </p:attrNameLst>
                                      </p:cBhvr>
                                      <p:to>
                                        <p:strVal val="visible"/>
                                      </p:to>
                                    </p:set>
                                    <p:animEffect transition="in" filter="fade">
                                      <p:cBhvr>
                                        <p:cTn id="74" dur="550" fill="hold"/>
                                        <p:tgtEl>
                                          <p:spTgt spid="15"/>
                                        </p:tgtEl>
                                      </p:cBhvr>
                                    </p:animEffect>
                                    <p:anim calcmode="lin" valueType="num">
                                      <p:cBhvr>
                                        <p:cTn id="75" dur="550" fill="hold"/>
                                        <p:tgtEl>
                                          <p:spTgt spid="15"/>
                                        </p:tgtEl>
                                        <p:attrNameLst>
                                          <p:attrName>ppt_x</p:attrName>
                                        </p:attrNameLst>
                                      </p:cBhvr>
                                      <p:tavLst>
                                        <p:tav tm="0">
                                          <p:val>
                                            <p:strVal val="#ppt_x"/>
                                          </p:val>
                                        </p:tav>
                                        <p:tav tm="100000">
                                          <p:val>
                                            <p:strVal val="#ppt_x"/>
                                          </p:val>
                                        </p:tav>
                                      </p:tavLst>
                                    </p:anim>
                                    <p:anim calcmode="lin" valueType="num">
                                      <p:cBhvr>
                                        <p:cTn id="76" dur="550" fill="hold"/>
                                        <p:tgtEl>
                                          <p:spTgt spid="15"/>
                                        </p:tgtEl>
                                        <p:attrNameLst>
                                          <p:attrName>ppt_y</p:attrName>
                                        </p:attrNameLst>
                                      </p:cBhvr>
                                      <p:tavLst>
                                        <p:tav tm="0">
                                          <p:val>
                                            <p:strVal val="#ppt_y+.1"/>
                                          </p:val>
                                        </p:tav>
                                        <p:tav tm="100000">
                                          <p:val>
                                            <p:strVal val="#ppt_y"/>
                                          </p:val>
                                        </p:tav>
                                      </p:tavLst>
                                    </p:anim>
                                  </p:childTnLst>
                                </p:cTn>
                              </p:par>
                            </p:childTnLst>
                          </p:cTn>
                        </p:par>
                        <p:par>
                          <p:cTn id="77" fill="hold">
                            <p:stCondLst>
                              <p:cond delay="2050"/>
                            </p:stCondLst>
                            <p:childTnLst>
                              <p:par>
                                <p:cTn id="78" presetID="42" presetClass="entr" presetSubtype="0" fill="hold" grpId="0" nodeType="afterEffect">
                                  <p:stCondLst>
                                    <p:cond delay="0"/>
                                  </p:stCondLst>
                                  <p:childTnLst>
                                    <p:set>
                                      <p:cBhvr>
                                        <p:cTn id="79" dur="1" fill="hold">
                                          <p:stCondLst>
                                            <p:cond delay="0"/>
                                          </p:stCondLst>
                                        </p:cTn>
                                        <p:tgtEl>
                                          <p:spTgt spid="16"/>
                                        </p:tgtEl>
                                        <p:attrNameLst>
                                          <p:attrName>style.visibility</p:attrName>
                                        </p:attrNameLst>
                                      </p:cBhvr>
                                      <p:to>
                                        <p:strVal val="visible"/>
                                      </p:to>
                                    </p:set>
                                    <p:animEffect transition="in" filter="fade">
                                      <p:cBhvr>
                                        <p:cTn id="80" dur="550" fill="hold"/>
                                        <p:tgtEl>
                                          <p:spTgt spid="16"/>
                                        </p:tgtEl>
                                      </p:cBhvr>
                                    </p:animEffect>
                                    <p:anim calcmode="lin" valueType="num">
                                      <p:cBhvr>
                                        <p:cTn id="81" dur="550" fill="hold"/>
                                        <p:tgtEl>
                                          <p:spTgt spid="16"/>
                                        </p:tgtEl>
                                        <p:attrNameLst>
                                          <p:attrName>ppt_x</p:attrName>
                                        </p:attrNameLst>
                                      </p:cBhvr>
                                      <p:tavLst>
                                        <p:tav tm="0">
                                          <p:val>
                                            <p:strVal val="#ppt_x"/>
                                          </p:val>
                                        </p:tav>
                                        <p:tav tm="100000">
                                          <p:val>
                                            <p:strVal val="#ppt_x"/>
                                          </p:val>
                                        </p:tav>
                                      </p:tavLst>
                                    </p:anim>
                                    <p:anim calcmode="lin" valueType="num">
                                      <p:cBhvr>
                                        <p:cTn id="82" dur="550" fill="hold"/>
                                        <p:tgtEl>
                                          <p:spTgt spid="16"/>
                                        </p:tgtEl>
                                        <p:attrNameLst>
                                          <p:attrName>ppt_y</p:attrName>
                                        </p:attrNameLst>
                                      </p:cBhvr>
                                      <p:tavLst>
                                        <p:tav tm="0">
                                          <p:val>
                                            <p:strVal val="#ppt_y+.1"/>
                                          </p:val>
                                        </p:tav>
                                        <p:tav tm="100000">
                                          <p:val>
                                            <p:strVal val="#ppt_y"/>
                                          </p:val>
                                        </p:tav>
                                      </p:tavLst>
                                    </p:anim>
                                  </p:childTnLst>
                                </p:cTn>
                              </p:par>
                              <p:par>
                                <p:cTn id="83" presetID="42" presetClass="entr" presetSubtype="0" fill="hold" grpId="0" nodeType="withEffect">
                                  <p:stCondLst>
                                    <p:cond delay="0"/>
                                  </p:stCondLst>
                                  <p:childTnLst>
                                    <p:set>
                                      <p:cBhvr>
                                        <p:cTn id="84" dur="1" fill="hold">
                                          <p:stCondLst>
                                            <p:cond delay="0"/>
                                          </p:stCondLst>
                                        </p:cTn>
                                        <p:tgtEl>
                                          <p:spTgt spid="17"/>
                                        </p:tgtEl>
                                        <p:attrNameLst>
                                          <p:attrName>style.visibility</p:attrName>
                                        </p:attrNameLst>
                                      </p:cBhvr>
                                      <p:to>
                                        <p:strVal val="visible"/>
                                      </p:to>
                                    </p:set>
                                    <p:animEffect transition="in" filter="fade">
                                      <p:cBhvr>
                                        <p:cTn id="85" dur="550" fill="hold"/>
                                        <p:tgtEl>
                                          <p:spTgt spid="17"/>
                                        </p:tgtEl>
                                      </p:cBhvr>
                                    </p:animEffect>
                                    <p:anim calcmode="lin" valueType="num">
                                      <p:cBhvr>
                                        <p:cTn id="86" dur="550" fill="hold"/>
                                        <p:tgtEl>
                                          <p:spTgt spid="17"/>
                                        </p:tgtEl>
                                        <p:attrNameLst>
                                          <p:attrName>ppt_x</p:attrName>
                                        </p:attrNameLst>
                                      </p:cBhvr>
                                      <p:tavLst>
                                        <p:tav tm="0">
                                          <p:val>
                                            <p:strVal val="#ppt_x"/>
                                          </p:val>
                                        </p:tav>
                                        <p:tav tm="100000">
                                          <p:val>
                                            <p:strVal val="#ppt_x"/>
                                          </p:val>
                                        </p:tav>
                                      </p:tavLst>
                                    </p:anim>
                                    <p:anim calcmode="lin" valueType="num">
                                      <p:cBhvr>
                                        <p:cTn id="87" dur="550" fill="hold"/>
                                        <p:tgtEl>
                                          <p:spTgt spid="17"/>
                                        </p:tgtEl>
                                        <p:attrNameLst>
                                          <p:attrName>ppt_y</p:attrName>
                                        </p:attrNameLst>
                                      </p:cBhvr>
                                      <p:tavLst>
                                        <p:tav tm="0">
                                          <p:val>
                                            <p:strVal val="#ppt_y+.1"/>
                                          </p:val>
                                        </p:tav>
                                        <p:tav tm="100000">
                                          <p:val>
                                            <p:strVal val="#ppt_y"/>
                                          </p:val>
                                        </p:tav>
                                      </p:tavLst>
                                    </p:anim>
                                  </p:childTnLst>
                                </p:cTn>
                              </p:par>
                              <p:par>
                                <p:cTn id="88" presetID="42" presetClass="entr" presetSubtype="0" fill="hold" grpId="0" nodeType="withEffect">
                                  <p:stCondLst>
                                    <p:cond delay="0"/>
                                  </p:stCondLst>
                                  <p:childTnLst>
                                    <p:set>
                                      <p:cBhvr>
                                        <p:cTn id="89" dur="1" fill="hold">
                                          <p:stCondLst>
                                            <p:cond delay="0"/>
                                          </p:stCondLst>
                                        </p:cTn>
                                        <p:tgtEl>
                                          <p:spTgt spid="18"/>
                                        </p:tgtEl>
                                        <p:attrNameLst>
                                          <p:attrName>style.visibility</p:attrName>
                                        </p:attrNameLst>
                                      </p:cBhvr>
                                      <p:to>
                                        <p:strVal val="visible"/>
                                      </p:to>
                                    </p:set>
                                    <p:animEffect transition="in" filter="fade">
                                      <p:cBhvr>
                                        <p:cTn id="90" dur="550" fill="hold"/>
                                        <p:tgtEl>
                                          <p:spTgt spid="18"/>
                                        </p:tgtEl>
                                      </p:cBhvr>
                                    </p:animEffect>
                                    <p:anim calcmode="lin" valueType="num">
                                      <p:cBhvr>
                                        <p:cTn id="91" dur="550" fill="hold"/>
                                        <p:tgtEl>
                                          <p:spTgt spid="18"/>
                                        </p:tgtEl>
                                        <p:attrNameLst>
                                          <p:attrName>ppt_x</p:attrName>
                                        </p:attrNameLst>
                                      </p:cBhvr>
                                      <p:tavLst>
                                        <p:tav tm="0">
                                          <p:val>
                                            <p:strVal val="#ppt_x"/>
                                          </p:val>
                                        </p:tav>
                                        <p:tav tm="100000">
                                          <p:val>
                                            <p:strVal val="#ppt_x"/>
                                          </p:val>
                                        </p:tav>
                                      </p:tavLst>
                                    </p:anim>
                                    <p:anim calcmode="lin" valueType="num">
                                      <p:cBhvr>
                                        <p:cTn id="92" dur="550" fill="hold"/>
                                        <p:tgtEl>
                                          <p:spTgt spid="18"/>
                                        </p:tgtEl>
                                        <p:attrNameLst>
                                          <p:attrName>ppt_y</p:attrName>
                                        </p:attrNameLst>
                                      </p:cBhvr>
                                      <p:tavLst>
                                        <p:tav tm="0">
                                          <p:val>
                                            <p:strVal val="#ppt_y+.1"/>
                                          </p:val>
                                        </p:tav>
                                        <p:tav tm="100000">
                                          <p:val>
                                            <p:strVal val="#ppt_y"/>
                                          </p:val>
                                        </p:tav>
                                      </p:tavLst>
                                    </p:anim>
                                  </p:childTnLst>
                                </p:cTn>
                              </p:par>
                              <p:par>
                                <p:cTn id="93" presetID="42" presetClass="entr" presetSubtype="0" fill="hold" grpId="0" nodeType="withEffect">
                                  <p:stCondLst>
                                    <p:cond delay="0"/>
                                  </p:stCondLst>
                                  <p:childTnLst>
                                    <p:set>
                                      <p:cBhvr>
                                        <p:cTn id="94" dur="1" fill="hold">
                                          <p:stCondLst>
                                            <p:cond delay="0"/>
                                          </p:stCondLst>
                                        </p:cTn>
                                        <p:tgtEl>
                                          <p:spTgt spid="19"/>
                                        </p:tgtEl>
                                        <p:attrNameLst>
                                          <p:attrName>style.visibility</p:attrName>
                                        </p:attrNameLst>
                                      </p:cBhvr>
                                      <p:to>
                                        <p:strVal val="visible"/>
                                      </p:to>
                                    </p:set>
                                    <p:animEffect transition="in" filter="fade">
                                      <p:cBhvr>
                                        <p:cTn id="95" dur="550" fill="hold"/>
                                        <p:tgtEl>
                                          <p:spTgt spid="19"/>
                                        </p:tgtEl>
                                      </p:cBhvr>
                                    </p:animEffect>
                                    <p:anim calcmode="lin" valueType="num">
                                      <p:cBhvr>
                                        <p:cTn id="96" dur="550" fill="hold"/>
                                        <p:tgtEl>
                                          <p:spTgt spid="19"/>
                                        </p:tgtEl>
                                        <p:attrNameLst>
                                          <p:attrName>ppt_x</p:attrName>
                                        </p:attrNameLst>
                                      </p:cBhvr>
                                      <p:tavLst>
                                        <p:tav tm="0">
                                          <p:val>
                                            <p:strVal val="#ppt_x"/>
                                          </p:val>
                                        </p:tav>
                                        <p:tav tm="100000">
                                          <p:val>
                                            <p:strVal val="#ppt_x"/>
                                          </p:val>
                                        </p:tav>
                                      </p:tavLst>
                                    </p:anim>
                                    <p:anim calcmode="lin" valueType="num">
                                      <p:cBhvr>
                                        <p:cTn id="97" dur="550" fill="hold"/>
                                        <p:tgtEl>
                                          <p:spTgt spid="19"/>
                                        </p:tgtEl>
                                        <p:attrNameLst>
                                          <p:attrName>ppt_y</p:attrName>
                                        </p:attrNameLst>
                                      </p:cBhvr>
                                      <p:tavLst>
                                        <p:tav tm="0">
                                          <p:val>
                                            <p:strVal val="#ppt_y+.1"/>
                                          </p:val>
                                        </p:tav>
                                        <p:tav tm="100000">
                                          <p:val>
                                            <p:strVal val="#ppt_y"/>
                                          </p:val>
                                        </p:tav>
                                      </p:tavLst>
                                    </p:anim>
                                  </p:childTnLst>
                                </p:cTn>
                              </p:par>
                              <p:par>
                                <p:cTn id="98" presetID="42" presetClass="entr" presetSubtype="0" fill="hold" grpId="0" nodeType="withEffect">
                                  <p:stCondLst>
                                    <p:cond delay="0"/>
                                  </p:stCondLst>
                                  <p:childTnLst>
                                    <p:set>
                                      <p:cBhvr>
                                        <p:cTn id="99" dur="1" fill="hold">
                                          <p:stCondLst>
                                            <p:cond delay="0"/>
                                          </p:stCondLst>
                                        </p:cTn>
                                        <p:tgtEl>
                                          <p:spTgt spid="20"/>
                                        </p:tgtEl>
                                        <p:attrNameLst>
                                          <p:attrName>style.visibility</p:attrName>
                                        </p:attrNameLst>
                                      </p:cBhvr>
                                      <p:to>
                                        <p:strVal val="visible"/>
                                      </p:to>
                                    </p:set>
                                    <p:animEffect transition="in" filter="fade">
                                      <p:cBhvr>
                                        <p:cTn id="100" dur="550" fill="hold"/>
                                        <p:tgtEl>
                                          <p:spTgt spid="20"/>
                                        </p:tgtEl>
                                      </p:cBhvr>
                                    </p:animEffect>
                                    <p:anim calcmode="lin" valueType="num">
                                      <p:cBhvr>
                                        <p:cTn id="101" dur="550" fill="hold"/>
                                        <p:tgtEl>
                                          <p:spTgt spid="20"/>
                                        </p:tgtEl>
                                        <p:attrNameLst>
                                          <p:attrName>ppt_x</p:attrName>
                                        </p:attrNameLst>
                                      </p:cBhvr>
                                      <p:tavLst>
                                        <p:tav tm="0">
                                          <p:val>
                                            <p:strVal val="#ppt_x"/>
                                          </p:val>
                                        </p:tav>
                                        <p:tav tm="100000">
                                          <p:val>
                                            <p:strVal val="#ppt_x"/>
                                          </p:val>
                                        </p:tav>
                                      </p:tavLst>
                                    </p:anim>
                                    <p:anim calcmode="lin" valueType="num">
                                      <p:cBhvr>
                                        <p:cTn id="102" dur="550" fill="hold"/>
                                        <p:tgtEl>
                                          <p:spTgt spid="20"/>
                                        </p:tgtEl>
                                        <p:attrNameLst>
                                          <p:attrName>ppt_y</p:attrName>
                                        </p:attrNameLst>
                                      </p:cBhvr>
                                      <p:tavLst>
                                        <p:tav tm="0">
                                          <p:val>
                                            <p:strVal val="#ppt_y+.1"/>
                                          </p:val>
                                        </p:tav>
                                        <p:tav tm="100000">
                                          <p:val>
                                            <p:strVal val="#ppt_y"/>
                                          </p:val>
                                        </p:tav>
                                      </p:tavLst>
                                    </p:anim>
                                  </p:childTnLst>
                                </p:cTn>
                              </p:par>
                              <p:par>
                                <p:cTn id="103" presetID="42" presetClass="entr" presetSubtype="0" fill="hold" grpId="0" nodeType="withEffect">
                                  <p:stCondLst>
                                    <p:cond delay="0"/>
                                  </p:stCondLst>
                                  <p:childTnLst>
                                    <p:set>
                                      <p:cBhvr>
                                        <p:cTn id="104" dur="1" fill="hold">
                                          <p:stCondLst>
                                            <p:cond delay="0"/>
                                          </p:stCondLst>
                                        </p:cTn>
                                        <p:tgtEl>
                                          <p:spTgt spid="21"/>
                                        </p:tgtEl>
                                        <p:attrNameLst>
                                          <p:attrName>style.visibility</p:attrName>
                                        </p:attrNameLst>
                                      </p:cBhvr>
                                      <p:to>
                                        <p:strVal val="visible"/>
                                      </p:to>
                                    </p:set>
                                    <p:animEffect transition="in" filter="fade">
                                      <p:cBhvr>
                                        <p:cTn id="105" dur="550" fill="hold"/>
                                        <p:tgtEl>
                                          <p:spTgt spid="21"/>
                                        </p:tgtEl>
                                      </p:cBhvr>
                                    </p:animEffect>
                                    <p:anim calcmode="lin" valueType="num">
                                      <p:cBhvr>
                                        <p:cTn id="106" dur="550" fill="hold"/>
                                        <p:tgtEl>
                                          <p:spTgt spid="21"/>
                                        </p:tgtEl>
                                        <p:attrNameLst>
                                          <p:attrName>ppt_x</p:attrName>
                                        </p:attrNameLst>
                                      </p:cBhvr>
                                      <p:tavLst>
                                        <p:tav tm="0">
                                          <p:val>
                                            <p:strVal val="#ppt_x"/>
                                          </p:val>
                                        </p:tav>
                                        <p:tav tm="100000">
                                          <p:val>
                                            <p:strVal val="#ppt_x"/>
                                          </p:val>
                                        </p:tav>
                                      </p:tavLst>
                                    </p:anim>
                                    <p:anim calcmode="lin" valueType="num">
                                      <p:cBhvr>
                                        <p:cTn id="107" dur="550" fill="hold"/>
                                        <p:tgtEl>
                                          <p:spTgt spid="21"/>
                                        </p:tgtEl>
                                        <p:attrNameLst>
                                          <p:attrName>ppt_y</p:attrName>
                                        </p:attrNameLst>
                                      </p:cBhvr>
                                      <p:tavLst>
                                        <p:tav tm="0">
                                          <p:val>
                                            <p:strVal val="#ppt_y+.1"/>
                                          </p:val>
                                        </p:tav>
                                        <p:tav tm="100000">
                                          <p:val>
                                            <p:strVal val="#ppt_y"/>
                                          </p:val>
                                        </p:tav>
                                      </p:tavLst>
                                    </p:anim>
                                  </p:childTnLst>
                                </p:cTn>
                              </p:par>
                            </p:childTnLst>
                          </p:cTn>
                        </p:par>
                        <p:par>
                          <p:cTn id="108" fill="hold">
                            <p:stCondLst>
                              <p:cond delay="2600"/>
                            </p:stCondLst>
                            <p:childTnLst>
                              <p:par>
                                <p:cTn id="109" presetID="10" presetClass="entr" presetSubtype="0" fill="hold" grpId="0" nodeType="afterEffect">
                                  <p:stCondLst>
                                    <p:cond delay="0"/>
                                  </p:stCondLst>
                                  <p:childTnLst>
                                    <p:set>
                                      <p:cBhvr>
                                        <p:cTn id="110" dur="1" fill="hold">
                                          <p:stCondLst>
                                            <p:cond delay="0"/>
                                          </p:stCondLst>
                                        </p:cTn>
                                        <p:tgtEl>
                                          <p:spTgt spid="22"/>
                                        </p:tgtEl>
                                        <p:attrNameLst>
                                          <p:attrName>style.visibility</p:attrName>
                                        </p:attrNameLst>
                                      </p:cBhvr>
                                      <p:to>
                                        <p:strVal val="visible"/>
                                      </p:to>
                                    </p:set>
                                    <p:animEffect transition="in" filter="fade">
                                      <p:cBhvr>
                                        <p:cTn id="111" dur="400" fill="hold"/>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7" grpId="0" animBg="1"/>
      <p:bldP spid="8" grpId="0" animBg="1"/>
      <p:bldP spid="9" grpId="0" animBg="1"/>
      <p:bldP spid="10" grpId="0" animBg="1"/>
      <p:bldP spid="11" grpId="0" animBg="1"/>
      <p:bldP spid="13" grpId="0" animBg="1"/>
      <p:bldP spid="14" grpId="0" animBg="1"/>
      <p:bldP spid="15" grpId="0" animBg="1"/>
      <p:bldP spid="16" grpId="0" animBg="1"/>
      <p:bldP spid="17" grpId="0" animBg="1"/>
      <p:bldP spid="19" grpId="0" animBg="1"/>
      <p:bldP spid="20" grpId="0" animBg="1"/>
      <p:bldP spid="21" grpId="0" animBg="1"/>
      <p:bldP spid="22"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a:spLocks noGrp="1"/>
          </p:cNvSpPr>
          <p:nvPr>
            <p:ph type="title" idx="100" hasCustomPrompt="1"/>
          </p:nvPr>
        </p:nvSpPr>
        <p:spPr>
          <a:xfrm>
            <a:off x="548640" y="365760"/>
            <a:ext cx="11064240" cy="685800"/>
          </a:xfrm>
          <a:prstGeom prst="rect">
            <a:avLst/>
          </a:prstGeom>
          <a:noFill/>
          <a:ln/>
        </p:spPr>
        <p:txBody>
          <a:bodyPr wrap="square" lIns="0" tIns="0" rIns="0" bIns="0" rtlCol="0" anchor="ctr"/>
          <a:lstStyle/>
          <a:p>
            <a:pPr marL="0" indent="0" algn="l">
              <a:buNone/>
            </a:pPr>
            <a:r>
              <a:rPr lang="en-US" sz="3200" b="1" dirty="0">
                <a:solidFill>
                  <a:schemeClr val="tx1"/>
                </a:solidFill>
              </a:rPr>
              <a:t>How it works, in three steps</a:t>
            </a:r>
            <a:endParaRPr lang="en-US" sz="3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2</a:t>
            </a:fld>
            <a:endParaRPr lang="en-US"/>
          </a:p>
        </p:txBody>
      </p:sp>
      <p:sp>
        <p:nvSpPr>
          <p:cNvPr id="26" name="Step card 1"/>
          <p:cNvSpPr/>
          <p:nvPr/>
        </p:nvSpPr>
        <p:spPr>
          <a:xfrm>
            <a:off x="548640" y="1371600"/>
            <a:ext cx="3310128" cy="34290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Step icon 1 circle"/>
          <p:cNvSpPr/>
          <p:nvPr/>
        </p:nvSpPr>
        <p:spPr>
          <a:xfrm>
            <a:off x="822960" y="1645920"/>
            <a:ext cx="685800" cy="6858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Step icon 1" descr="glasses_w.png"/>
          <p:cNvPicPr>
            <a:picLocks noChangeAspect="1"/>
          </p:cNvPicPr>
          <p:nvPr/>
        </p:nvPicPr>
        <p:blipFill>
          <a:blip r:embed="rId2"/>
          <a:stretch>
            <a:fillRect/>
          </a:stretch>
        </p:blipFill>
        <p:spPr>
          <a:xfrm>
            <a:off x="994410" y="1817370"/>
            <a:ext cx="342900" cy="342900"/>
          </a:xfrm>
          <a:prstGeom prst="rect">
            <a:avLst/>
          </a:prstGeom>
        </p:spPr>
      </p:pic>
      <p:sp>
        <p:nvSpPr>
          <p:cNvPr id="29" name="Step label 1"/>
          <p:cNvSpPr txBox="1"/>
          <p:nvPr/>
        </p:nvSpPr>
        <p:spPr>
          <a:xfrm>
            <a:off x="1645920" y="1645920"/>
            <a:ext cx="2029968" cy="685800"/>
          </a:xfrm>
          <a:prstGeom prst="rect">
            <a:avLst/>
          </a:prstGeom>
          <a:noFill/>
        </p:spPr>
        <p:txBody>
          <a:bodyPr wrap="square" lIns="0" rIns="0" tIns="0" bIns="0" anchor="ctr">
            <a:spAutoFit/>
          </a:bodyPr>
          <a:lstStyle/>
          <a:p>
            <a:pPr algn="l">
              <a:spcAft>
                <a:spcPts val="600"/>
              </a:spcAft>
            </a:pPr>
            <a:r>
              <a:rPr sz="1200" b="1" i="0">
                <a:solidFill>
                  <a:schemeClr val="accent1"/>
                </a:solidFill>
              </a:rPr>
              <a:t>STEP 1 · META GLASSES</a:t>
            </a:r>
          </a:p>
        </p:txBody>
      </p:sp>
      <p:sp>
        <p:nvSpPr>
          <p:cNvPr id="30" name="Step headline 1"/>
          <p:cNvSpPr txBox="1"/>
          <p:nvPr/>
        </p:nvSpPr>
        <p:spPr>
          <a:xfrm>
            <a:off x="822960" y="2514600"/>
            <a:ext cx="2761488" cy="457200"/>
          </a:xfrm>
          <a:prstGeom prst="rect">
            <a:avLst/>
          </a:prstGeom>
          <a:noFill/>
        </p:spPr>
        <p:txBody>
          <a:bodyPr wrap="square" lIns="0" rIns="0" tIns="0" bIns="0" anchor="t">
            <a:spAutoFit/>
          </a:bodyPr>
          <a:lstStyle/>
          <a:p>
            <a:pPr algn="l">
              <a:spcAft>
                <a:spcPts val="600"/>
              </a:spcAft>
            </a:pPr>
            <a:r>
              <a:rPr sz="2200" b="1" i="0">
                <a:solidFill>
                  <a:schemeClr val="tx1"/>
                </a:solidFill>
              </a:rPr>
              <a:t>See and hear</a:t>
            </a:r>
          </a:p>
        </p:txBody>
      </p:sp>
      <p:sp>
        <p:nvSpPr>
          <p:cNvPr id="31" name="Step detail 1"/>
          <p:cNvSpPr txBox="1"/>
          <p:nvPr/>
        </p:nvSpPr>
        <p:spPr>
          <a:xfrm>
            <a:off x="822960" y="3108960"/>
            <a:ext cx="2761488" cy="1554480"/>
          </a:xfrm>
          <a:prstGeom prst="rect">
            <a:avLst/>
          </a:prstGeom>
          <a:noFill/>
        </p:spPr>
        <p:txBody>
          <a:bodyPr wrap="square" lIns="0" rIns="0" tIns="0" bIns="0" anchor="t">
            <a:spAutoFit/>
          </a:bodyPr>
          <a:lstStyle/>
          <a:p>
            <a:pPr algn="l" marL="201168" indent="-201168">
              <a:spcAft>
                <a:spcPts val="800"/>
              </a:spcAft>
              <a:buClr>
                <a:schemeClr val="accent1"/>
              </a:buClr>
              <a:buChar char="•"/>
            </a:pPr>
            <a:r>
              <a:rPr sz="1400" b="0" i="0">
                <a:solidFill>
                  <a:schemeClr val="accent3"/>
                </a:solidFill>
              </a:rPr>
              <a:t>Streams the live camera view</a:t>
            </a:r>
          </a:p>
          <a:p>
            <a:pPr algn="l" marL="201168" indent="-201168">
              <a:spcAft>
                <a:spcPts val="800"/>
              </a:spcAft>
              <a:buClr>
                <a:schemeClr val="accent1"/>
              </a:buClr>
              <a:buChar char="•"/>
            </a:pPr>
            <a:r>
              <a:rPr sz="1400" b="0" i="0">
                <a:solidFill>
                  <a:schemeClr val="accent3"/>
                </a:solidFill>
              </a:rPr>
              <a:t>Photographs the document in front of the RM</a:t>
            </a:r>
          </a:p>
          <a:p>
            <a:pPr algn="l" marL="201168" indent="-201168">
              <a:spcAft>
                <a:spcPts val="800"/>
              </a:spcAft>
              <a:buClr>
                <a:schemeClr val="accent1"/>
              </a:buClr>
              <a:buChar char="•"/>
            </a:pPr>
            <a:r>
              <a:rPr sz="1400" b="0" i="0">
                <a:solidFill>
                  <a:schemeClr val="accent3"/>
                </a:solidFill>
              </a:rPr>
              <a:t>Hears the RM's question and speaks the answer</a:t>
            </a:r>
          </a:p>
        </p:txBody>
      </p:sp>
      <p:sp>
        <p:nvSpPr>
          <p:cNvPr id="32" name="Flow arrow 1"/>
          <p:cNvSpPr/>
          <p:nvPr/>
        </p:nvSpPr>
        <p:spPr>
          <a:xfrm>
            <a:off x="3968496" y="2884932"/>
            <a:ext cx="361188" cy="402336"/>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tep card 2"/>
          <p:cNvSpPr/>
          <p:nvPr/>
        </p:nvSpPr>
        <p:spPr>
          <a:xfrm>
            <a:off x="4439412" y="1371600"/>
            <a:ext cx="3310128" cy="34290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tep icon 2 circle"/>
          <p:cNvSpPr/>
          <p:nvPr/>
        </p:nvSpPr>
        <p:spPr>
          <a:xfrm>
            <a:off x="4713732" y="1645920"/>
            <a:ext cx="685800" cy="6858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Step icon 2" descr="phone_w.png"/>
          <p:cNvPicPr>
            <a:picLocks noChangeAspect="1"/>
          </p:cNvPicPr>
          <p:nvPr/>
        </p:nvPicPr>
        <p:blipFill>
          <a:blip r:embed="rId3"/>
          <a:stretch>
            <a:fillRect/>
          </a:stretch>
        </p:blipFill>
        <p:spPr>
          <a:xfrm>
            <a:off x="4885182" y="1817370"/>
            <a:ext cx="342900" cy="342900"/>
          </a:xfrm>
          <a:prstGeom prst="rect">
            <a:avLst/>
          </a:prstGeom>
        </p:spPr>
      </p:pic>
      <p:sp>
        <p:nvSpPr>
          <p:cNvPr id="36" name="Step label 2"/>
          <p:cNvSpPr txBox="1"/>
          <p:nvPr/>
        </p:nvSpPr>
        <p:spPr>
          <a:xfrm>
            <a:off x="5536692" y="1645920"/>
            <a:ext cx="2029968" cy="685800"/>
          </a:xfrm>
          <a:prstGeom prst="rect">
            <a:avLst/>
          </a:prstGeom>
          <a:noFill/>
        </p:spPr>
        <p:txBody>
          <a:bodyPr wrap="square" lIns="0" rIns="0" tIns="0" bIns="0" anchor="ctr">
            <a:spAutoFit/>
          </a:bodyPr>
          <a:lstStyle/>
          <a:p>
            <a:pPr algn="l">
              <a:spcAft>
                <a:spcPts val="600"/>
              </a:spcAft>
            </a:pPr>
            <a:r>
              <a:rPr sz="1200" b="1" i="0">
                <a:solidFill>
                  <a:schemeClr val="accent1"/>
                </a:solidFill>
              </a:rPr>
              <a:t>STEP 2 · ANDROID PHONE</a:t>
            </a:r>
          </a:p>
        </p:txBody>
      </p:sp>
      <p:sp>
        <p:nvSpPr>
          <p:cNvPr id="37" name="Step headline 2"/>
          <p:cNvSpPr txBox="1"/>
          <p:nvPr/>
        </p:nvSpPr>
        <p:spPr>
          <a:xfrm>
            <a:off x="4713732" y="2514600"/>
            <a:ext cx="2761488" cy="457200"/>
          </a:xfrm>
          <a:prstGeom prst="rect">
            <a:avLst/>
          </a:prstGeom>
          <a:noFill/>
        </p:spPr>
        <p:txBody>
          <a:bodyPr wrap="square" lIns="0" rIns="0" tIns="0" bIns="0" anchor="t">
            <a:spAutoFit/>
          </a:bodyPr>
          <a:lstStyle/>
          <a:p>
            <a:pPr algn="l">
              <a:spcAft>
                <a:spcPts val="600"/>
              </a:spcAft>
            </a:pPr>
            <a:r>
              <a:rPr sz="2200" b="1" i="0">
                <a:solidFill>
                  <a:schemeClr val="tx1"/>
                </a:solidFill>
              </a:rPr>
              <a:t>Recognise and read</a:t>
            </a:r>
          </a:p>
        </p:txBody>
      </p:sp>
      <p:sp>
        <p:nvSpPr>
          <p:cNvPr id="38" name="Step detail 2"/>
          <p:cNvSpPr txBox="1"/>
          <p:nvPr/>
        </p:nvSpPr>
        <p:spPr>
          <a:xfrm>
            <a:off x="4713732" y="3108960"/>
            <a:ext cx="2761488" cy="1554480"/>
          </a:xfrm>
          <a:prstGeom prst="rect">
            <a:avLst/>
          </a:prstGeom>
          <a:noFill/>
        </p:spPr>
        <p:txBody>
          <a:bodyPr wrap="square" lIns="0" rIns="0" tIns="0" bIns="0" anchor="t">
            <a:spAutoFit/>
          </a:bodyPr>
          <a:lstStyle/>
          <a:p>
            <a:pPr algn="l" marL="201168" indent="-201168">
              <a:spcAft>
                <a:spcPts val="800"/>
              </a:spcAft>
              <a:buClr>
                <a:schemeClr val="accent1"/>
              </a:buClr>
              <a:buChar char="•"/>
            </a:pPr>
            <a:r>
              <a:rPr sz="1400" b="0" i="0">
                <a:solidFill>
                  <a:schemeClr val="accent3"/>
                </a:solidFill>
              </a:rPr>
              <a:t>Matches the customer's face to their profile</a:t>
            </a:r>
          </a:p>
          <a:p>
            <a:pPr algn="l" marL="201168" indent="-201168">
              <a:spcAft>
                <a:spcPts val="800"/>
              </a:spcAft>
              <a:buClr>
                <a:schemeClr val="accent1"/>
              </a:buClr>
              <a:buChar char="•"/>
            </a:pPr>
            <a:r>
              <a:rPr sz="1400" b="0" i="0">
                <a:solidFill>
                  <a:schemeClr val="accent3"/>
                </a:solidFill>
              </a:rPr>
              <a:t>Reads the text of the document</a:t>
            </a:r>
          </a:p>
          <a:p>
            <a:pPr algn="l" marL="201168" indent="-201168">
              <a:spcAft>
                <a:spcPts val="800"/>
              </a:spcAft>
              <a:buClr>
                <a:schemeClr val="accent1"/>
              </a:buClr>
              <a:buChar char="•"/>
            </a:pPr>
            <a:r>
              <a:rPr sz="1400" b="0" i="0">
                <a:solidFill>
                  <a:schemeClr val="accent3"/>
                </a:solidFill>
              </a:rPr>
              <a:t>All of this happens on the phone itself</a:t>
            </a:r>
          </a:p>
        </p:txBody>
      </p:sp>
      <p:sp>
        <p:nvSpPr>
          <p:cNvPr id="39" name="Flow arrow 2"/>
          <p:cNvSpPr/>
          <p:nvPr/>
        </p:nvSpPr>
        <p:spPr>
          <a:xfrm>
            <a:off x="7859268" y="2884932"/>
            <a:ext cx="361188" cy="402336"/>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tep card 3"/>
          <p:cNvSpPr/>
          <p:nvPr/>
        </p:nvSpPr>
        <p:spPr>
          <a:xfrm>
            <a:off x="8330184" y="1371600"/>
            <a:ext cx="3310128" cy="3429000"/>
          </a:xfrm>
          <a:prstGeom prst="roundRect">
            <a:avLst>
              <a:gd name="adj" fmla="val 6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Step icon 3 circle"/>
          <p:cNvSpPr/>
          <p:nvPr/>
        </p:nvSpPr>
        <p:spPr>
          <a:xfrm>
            <a:off x="8604504" y="1645920"/>
            <a:ext cx="685800" cy="6858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Step icon 3" descr="chip_w.png"/>
          <p:cNvPicPr>
            <a:picLocks noChangeAspect="1"/>
          </p:cNvPicPr>
          <p:nvPr/>
        </p:nvPicPr>
        <p:blipFill>
          <a:blip r:embed="rId4"/>
          <a:stretch>
            <a:fillRect/>
          </a:stretch>
        </p:blipFill>
        <p:spPr>
          <a:xfrm>
            <a:off x="8775954" y="1817370"/>
            <a:ext cx="342900" cy="342900"/>
          </a:xfrm>
          <a:prstGeom prst="rect">
            <a:avLst/>
          </a:prstGeom>
        </p:spPr>
      </p:pic>
      <p:sp>
        <p:nvSpPr>
          <p:cNvPr id="43" name="Step label 3"/>
          <p:cNvSpPr txBox="1"/>
          <p:nvPr/>
        </p:nvSpPr>
        <p:spPr>
          <a:xfrm>
            <a:off x="9427464" y="1645920"/>
            <a:ext cx="2029968" cy="685800"/>
          </a:xfrm>
          <a:prstGeom prst="rect">
            <a:avLst/>
          </a:prstGeom>
          <a:noFill/>
        </p:spPr>
        <p:txBody>
          <a:bodyPr wrap="square" lIns="0" rIns="0" tIns="0" bIns="0" anchor="ctr">
            <a:spAutoFit/>
          </a:bodyPr>
          <a:lstStyle/>
          <a:p>
            <a:pPr algn="l">
              <a:spcAft>
                <a:spcPts val="600"/>
              </a:spcAft>
            </a:pPr>
            <a:r>
              <a:rPr sz="1200" b="1" i="0">
                <a:solidFill>
                  <a:schemeClr val="accent1"/>
                </a:solidFill>
              </a:rPr>
              <a:t>STEP 3 · NVIDIA JETSON</a:t>
            </a:r>
          </a:p>
        </p:txBody>
      </p:sp>
      <p:sp>
        <p:nvSpPr>
          <p:cNvPr id="44" name="Step headline 3"/>
          <p:cNvSpPr txBox="1"/>
          <p:nvPr/>
        </p:nvSpPr>
        <p:spPr>
          <a:xfrm>
            <a:off x="8604504" y="2514600"/>
            <a:ext cx="2761488" cy="457200"/>
          </a:xfrm>
          <a:prstGeom prst="rect">
            <a:avLst/>
          </a:prstGeom>
          <a:noFill/>
        </p:spPr>
        <p:txBody>
          <a:bodyPr wrap="square" lIns="0" rIns="0" tIns="0" bIns="0" anchor="t">
            <a:spAutoFit/>
          </a:bodyPr>
          <a:lstStyle/>
          <a:p>
            <a:pPr algn="l">
              <a:spcAft>
                <a:spcPts val="600"/>
              </a:spcAft>
            </a:pPr>
            <a:r>
              <a:rPr sz="2200" b="1" i="0">
                <a:solidFill>
                  <a:schemeClr val="tx1"/>
                </a:solidFill>
              </a:rPr>
              <a:t>Answer</a:t>
            </a:r>
          </a:p>
        </p:txBody>
      </p:sp>
      <p:sp>
        <p:nvSpPr>
          <p:cNvPr id="45" name="Step detail 3"/>
          <p:cNvSpPr txBox="1"/>
          <p:nvPr/>
        </p:nvSpPr>
        <p:spPr>
          <a:xfrm>
            <a:off x="8604504" y="3108960"/>
            <a:ext cx="2761488" cy="1554480"/>
          </a:xfrm>
          <a:prstGeom prst="rect">
            <a:avLst/>
          </a:prstGeom>
          <a:noFill/>
        </p:spPr>
        <p:txBody>
          <a:bodyPr wrap="square" lIns="0" rIns="0" tIns="0" bIns="0" anchor="t">
            <a:spAutoFit/>
          </a:bodyPr>
          <a:lstStyle/>
          <a:p>
            <a:pPr algn="l" marL="201168" indent="-201168">
              <a:spcAft>
                <a:spcPts val="800"/>
              </a:spcAft>
              <a:buClr>
                <a:schemeClr val="accent1"/>
              </a:buClr>
              <a:buChar char="•"/>
            </a:pPr>
            <a:r>
              <a:rPr sz="1400" b="0" i="0">
                <a:solidFill>
                  <a:schemeClr val="accent3"/>
                </a:solidFill>
              </a:rPr>
              <a:t>Receives text only, over a direct USB cable</a:t>
            </a:r>
          </a:p>
          <a:p>
            <a:pPr algn="l" marL="201168" indent="-201168">
              <a:spcAft>
                <a:spcPts val="800"/>
              </a:spcAft>
              <a:buClr>
                <a:schemeClr val="accent1"/>
              </a:buClr>
              <a:buChar char="•"/>
            </a:pPr>
            <a:r>
              <a:rPr sz="1400" b="0" i="0">
                <a:solidFill>
                  <a:schemeClr val="accent3"/>
                </a:solidFill>
              </a:rPr>
              <a:t>Default: Gemma 3, running locally and offline</a:t>
            </a:r>
          </a:p>
          <a:p>
            <a:pPr algn="l" marL="201168" indent="-201168">
              <a:spcAft>
                <a:spcPts val="800"/>
              </a:spcAft>
              <a:buClr>
                <a:schemeClr val="accent1"/>
              </a:buClr>
              <a:buChar char="•"/>
            </a:pPr>
            <a:r>
              <a:rPr sz="1400" b="0" i="0">
                <a:solidFill>
                  <a:schemeClr val="accent3"/>
                </a:solidFill>
              </a:rPr>
              <a:t>Option: Meta Muse Spark 1.1, one setting away</a:t>
            </a:r>
          </a:p>
        </p:txBody>
      </p:sp>
      <p:sp>
        <p:nvSpPr>
          <p:cNvPr id="46" name="Takeaway box"/>
          <p:cNvSpPr/>
          <p:nvPr/>
        </p:nvSpPr>
        <p:spPr>
          <a:xfrm>
            <a:off x="548640" y="5074920"/>
            <a:ext cx="11091672" cy="658368"/>
          </a:xfrm>
          <a:prstGeom prst="roundRect">
            <a:avLst>
              <a:gd name="adj" fmla="val 12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7" name="Takeaway icon" descr="lock_w.png"/>
          <p:cNvPicPr>
            <a:picLocks noChangeAspect="1"/>
          </p:cNvPicPr>
          <p:nvPr/>
        </p:nvPicPr>
        <p:blipFill>
          <a:blip r:embed="rId5"/>
          <a:stretch>
            <a:fillRect/>
          </a:stretch>
        </p:blipFill>
        <p:spPr>
          <a:xfrm>
            <a:off x="822960" y="5266944"/>
            <a:ext cx="274320" cy="274320"/>
          </a:xfrm>
          <a:prstGeom prst="rect">
            <a:avLst/>
          </a:prstGeom>
        </p:spPr>
      </p:pic>
      <p:sp>
        <p:nvSpPr>
          <p:cNvPr id="48" name="Takeaway text"/>
          <p:cNvSpPr txBox="1"/>
          <p:nvPr/>
        </p:nvSpPr>
        <p:spPr>
          <a:xfrm>
            <a:off x="1280160" y="5074920"/>
            <a:ext cx="10149840" cy="658368"/>
          </a:xfrm>
          <a:prstGeom prst="rect">
            <a:avLst/>
          </a:prstGeom>
          <a:noFill/>
        </p:spPr>
        <p:txBody>
          <a:bodyPr wrap="square" lIns="0" rIns="0" tIns="0" bIns="0" anchor="ctr">
            <a:spAutoFit/>
          </a:bodyPr>
          <a:lstStyle/>
          <a:p>
            <a:pPr algn="l">
              <a:spcAft>
                <a:spcPts val="600"/>
              </a:spcAft>
            </a:pPr>
            <a:r>
              <a:rPr sz="1600" b="1" i="0">
                <a:solidFill>
                  <a:schemeClr val="bg1"/>
                </a:solidFill>
              </a:rPr>
              <a:t>Private by design: customer faces and documents never leave the phone. The AI only ever sees text.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600" fill="hold"/>
                                        <p:tgtEl>
                                          <p:spTgt spid="26"/>
                                        </p:tgtEl>
                                      </p:cBhvr>
                                    </p:animEffect>
                                    <p:anim calcmode="lin" valueType="num">
                                      <p:cBhvr>
                                        <p:cTn id="8" dur="600" fill="hold"/>
                                        <p:tgtEl>
                                          <p:spTgt spid="26"/>
                                        </p:tgtEl>
                                        <p:attrNameLst>
                                          <p:attrName>ppt_x</p:attrName>
                                        </p:attrNameLst>
                                      </p:cBhvr>
                                      <p:tavLst>
                                        <p:tav tm="0">
                                          <p:val>
                                            <p:strVal val="#ppt_x"/>
                                          </p:val>
                                        </p:tav>
                                        <p:tav tm="100000">
                                          <p:val>
                                            <p:strVal val="#ppt_x"/>
                                          </p:val>
                                        </p:tav>
                                      </p:tavLst>
                                    </p:anim>
                                    <p:anim calcmode="lin" valueType="num">
                                      <p:cBhvr>
                                        <p:cTn id="9" dur="600" fill="hold"/>
                                        <p:tgtEl>
                                          <p:spTgt spid="2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600" fill="hold"/>
                                        <p:tgtEl>
                                          <p:spTgt spid="27"/>
                                        </p:tgtEl>
                                      </p:cBhvr>
                                    </p:animEffect>
                                    <p:anim calcmode="lin" valueType="num">
                                      <p:cBhvr>
                                        <p:cTn id="13" dur="600" fill="hold"/>
                                        <p:tgtEl>
                                          <p:spTgt spid="27"/>
                                        </p:tgtEl>
                                        <p:attrNameLst>
                                          <p:attrName>ppt_x</p:attrName>
                                        </p:attrNameLst>
                                      </p:cBhvr>
                                      <p:tavLst>
                                        <p:tav tm="0">
                                          <p:val>
                                            <p:strVal val="#ppt_x"/>
                                          </p:val>
                                        </p:tav>
                                        <p:tav tm="100000">
                                          <p:val>
                                            <p:strVal val="#ppt_x"/>
                                          </p:val>
                                        </p:tav>
                                      </p:tavLst>
                                    </p:anim>
                                    <p:anim calcmode="lin" valueType="num">
                                      <p:cBhvr>
                                        <p:cTn id="14" dur="600" fill="hold"/>
                                        <p:tgtEl>
                                          <p:spTgt spid="27"/>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600" fill="hold"/>
                                        <p:tgtEl>
                                          <p:spTgt spid="28"/>
                                        </p:tgtEl>
                                      </p:cBhvr>
                                    </p:animEffect>
                                    <p:anim calcmode="lin" valueType="num">
                                      <p:cBhvr>
                                        <p:cTn id="18" dur="600" fill="hold"/>
                                        <p:tgtEl>
                                          <p:spTgt spid="28"/>
                                        </p:tgtEl>
                                        <p:attrNameLst>
                                          <p:attrName>ppt_x</p:attrName>
                                        </p:attrNameLst>
                                      </p:cBhvr>
                                      <p:tavLst>
                                        <p:tav tm="0">
                                          <p:val>
                                            <p:strVal val="#ppt_x"/>
                                          </p:val>
                                        </p:tav>
                                        <p:tav tm="100000">
                                          <p:val>
                                            <p:strVal val="#ppt_x"/>
                                          </p:val>
                                        </p:tav>
                                      </p:tavLst>
                                    </p:anim>
                                    <p:anim calcmode="lin" valueType="num">
                                      <p:cBhvr>
                                        <p:cTn id="19" dur="600" fill="hold"/>
                                        <p:tgtEl>
                                          <p:spTgt spid="28"/>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600" fill="hold"/>
                                        <p:tgtEl>
                                          <p:spTgt spid="29"/>
                                        </p:tgtEl>
                                      </p:cBhvr>
                                    </p:animEffect>
                                    <p:anim calcmode="lin" valueType="num">
                                      <p:cBhvr>
                                        <p:cTn id="23" dur="600" fill="hold"/>
                                        <p:tgtEl>
                                          <p:spTgt spid="29"/>
                                        </p:tgtEl>
                                        <p:attrNameLst>
                                          <p:attrName>ppt_x</p:attrName>
                                        </p:attrNameLst>
                                      </p:cBhvr>
                                      <p:tavLst>
                                        <p:tav tm="0">
                                          <p:val>
                                            <p:strVal val="#ppt_x"/>
                                          </p:val>
                                        </p:tav>
                                        <p:tav tm="100000">
                                          <p:val>
                                            <p:strVal val="#ppt_x"/>
                                          </p:val>
                                        </p:tav>
                                      </p:tavLst>
                                    </p:anim>
                                    <p:anim calcmode="lin" valueType="num">
                                      <p:cBhvr>
                                        <p:cTn id="24" dur="600" fill="hold"/>
                                        <p:tgtEl>
                                          <p:spTgt spid="29"/>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fade">
                                      <p:cBhvr>
                                        <p:cTn id="27" dur="600" fill="hold"/>
                                        <p:tgtEl>
                                          <p:spTgt spid="30"/>
                                        </p:tgtEl>
                                      </p:cBhvr>
                                    </p:animEffect>
                                    <p:anim calcmode="lin" valueType="num">
                                      <p:cBhvr>
                                        <p:cTn id="28" dur="600" fill="hold"/>
                                        <p:tgtEl>
                                          <p:spTgt spid="30"/>
                                        </p:tgtEl>
                                        <p:attrNameLst>
                                          <p:attrName>ppt_x</p:attrName>
                                        </p:attrNameLst>
                                      </p:cBhvr>
                                      <p:tavLst>
                                        <p:tav tm="0">
                                          <p:val>
                                            <p:strVal val="#ppt_x"/>
                                          </p:val>
                                        </p:tav>
                                        <p:tav tm="100000">
                                          <p:val>
                                            <p:strVal val="#ppt_x"/>
                                          </p:val>
                                        </p:tav>
                                      </p:tavLst>
                                    </p:anim>
                                    <p:anim calcmode="lin" valueType="num">
                                      <p:cBhvr>
                                        <p:cTn id="29" dur="600" fill="hold"/>
                                        <p:tgtEl>
                                          <p:spTgt spid="30"/>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600" fill="hold"/>
                                        <p:tgtEl>
                                          <p:spTgt spid="31"/>
                                        </p:tgtEl>
                                      </p:cBhvr>
                                    </p:animEffect>
                                    <p:anim calcmode="lin" valueType="num">
                                      <p:cBhvr>
                                        <p:cTn id="33" dur="600" fill="hold"/>
                                        <p:tgtEl>
                                          <p:spTgt spid="31"/>
                                        </p:tgtEl>
                                        <p:attrNameLst>
                                          <p:attrName>ppt_x</p:attrName>
                                        </p:attrNameLst>
                                      </p:cBhvr>
                                      <p:tavLst>
                                        <p:tav tm="0">
                                          <p:val>
                                            <p:strVal val="#ppt_x"/>
                                          </p:val>
                                        </p:tav>
                                        <p:tav tm="100000">
                                          <p:val>
                                            <p:strVal val="#ppt_x"/>
                                          </p:val>
                                        </p:tav>
                                      </p:tavLst>
                                    </p:anim>
                                    <p:anim calcmode="lin" valueType="num">
                                      <p:cBhvr>
                                        <p:cTn id="34" dur="600" fill="hold"/>
                                        <p:tgtEl>
                                          <p:spTgt spid="31"/>
                                        </p:tgtEl>
                                        <p:attrNameLst>
                                          <p:attrName>ppt_y</p:attrName>
                                        </p:attrNameLst>
                                      </p:cBhvr>
                                      <p:tavLst>
                                        <p:tav tm="0">
                                          <p:val>
                                            <p:strVal val="#ppt_y+.1"/>
                                          </p:val>
                                        </p:tav>
                                        <p:tav tm="100000">
                                          <p:val>
                                            <p:strVal val="#ppt_y"/>
                                          </p:val>
                                        </p:tav>
                                      </p:tavLst>
                                    </p:anim>
                                  </p:childTnLst>
                                </p:cTn>
                              </p:par>
                            </p:childTnLst>
                          </p:cTn>
                        </p:par>
                        <p:par>
                          <p:cTn id="35" fill="hold">
                            <p:stCondLst>
                              <p:cond delay="600"/>
                            </p:stCondLst>
                            <p:childTnLst>
                              <p:par>
                                <p:cTn id="36" presetID="22" presetClass="entr" presetSubtype="8" fill="hold" grpId="0" nodeType="afterEffect">
                                  <p:stCondLst>
                                    <p:cond delay="0"/>
                                  </p:stCondLst>
                                  <p:childTnLst>
                                    <p:set>
                                      <p:cBhvr>
                                        <p:cTn id="37" dur="1" fill="hold">
                                          <p:stCondLst>
                                            <p:cond delay="0"/>
                                          </p:stCondLst>
                                        </p:cTn>
                                        <p:tgtEl>
                                          <p:spTgt spid="32"/>
                                        </p:tgtEl>
                                        <p:attrNameLst>
                                          <p:attrName>style.visibility</p:attrName>
                                        </p:attrNameLst>
                                      </p:cBhvr>
                                      <p:to>
                                        <p:strVal val="visible"/>
                                      </p:to>
                                    </p:set>
                                    <p:animEffect transition="in" filter="wipe(left)">
                                      <p:cBhvr>
                                        <p:cTn id="38" dur="400" fill="hold"/>
                                        <p:tgtEl>
                                          <p:spTgt spid="32"/>
                                        </p:tgtEl>
                                      </p:cBhvr>
                                    </p:animEffect>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33"/>
                                        </p:tgtEl>
                                        <p:attrNameLst>
                                          <p:attrName>style.visibility</p:attrName>
                                        </p:attrNameLst>
                                      </p:cBhvr>
                                      <p:to>
                                        <p:strVal val="visible"/>
                                      </p:to>
                                    </p:set>
                                    <p:animEffect transition="in" filter="fade">
                                      <p:cBhvr>
                                        <p:cTn id="43" dur="600" fill="hold"/>
                                        <p:tgtEl>
                                          <p:spTgt spid="33"/>
                                        </p:tgtEl>
                                      </p:cBhvr>
                                    </p:animEffect>
                                    <p:anim calcmode="lin" valueType="num">
                                      <p:cBhvr>
                                        <p:cTn id="44" dur="600" fill="hold"/>
                                        <p:tgtEl>
                                          <p:spTgt spid="33"/>
                                        </p:tgtEl>
                                        <p:attrNameLst>
                                          <p:attrName>ppt_x</p:attrName>
                                        </p:attrNameLst>
                                      </p:cBhvr>
                                      <p:tavLst>
                                        <p:tav tm="0">
                                          <p:val>
                                            <p:strVal val="#ppt_x"/>
                                          </p:val>
                                        </p:tav>
                                        <p:tav tm="100000">
                                          <p:val>
                                            <p:strVal val="#ppt_x"/>
                                          </p:val>
                                        </p:tav>
                                      </p:tavLst>
                                    </p:anim>
                                    <p:anim calcmode="lin" valueType="num">
                                      <p:cBhvr>
                                        <p:cTn id="45" dur="600" fill="hold"/>
                                        <p:tgtEl>
                                          <p:spTgt spid="33"/>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34"/>
                                        </p:tgtEl>
                                        <p:attrNameLst>
                                          <p:attrName>style.visibility</p:attrName>
                                        </p:attrNameLst>
                                      </p:cBhvr>
                                      <p:to>
                                        <p:strVal val="visible"/>
                                      </p:to>
                                    </p:set>
                                    <p:animEffect transition="in" filter="fade">
                                      <p:cBhvr>
                                        <p:cTn id="48" dur="600" fill="hold"/>
                                        <p:tgtEl>
                                          <p:spTgt spid="34"/>
                                        </p:tgtEl>
                                      </p:cBhvr>
                                    </p:animEffect>
                                    <p:anim calcmode="lin" valueType="num">
                                      <p:cBhvr>
                                        <p:cTn id="49" dur="600" fill="hold"/>
                                        <p:tgtEl>
                                          <p:spTgt spid="34"/>
                                        </p:tgtEl>
                                        <p:attrNameLst>
                                          <p:attrName>ppt_x</p:attrName>
                                        </p:attrNameLst>
                                      </p:cBhvr>
                                      <p:tavLst>
                                        <p:tav tm="0">
                                          <p:val>
                                            <p:strVal val="#ppt_x"/>
                                          </p:val>
                                        </p:tav>
                                        <p:tav tm="100000">
                                          <p:val>
                                            <p:strVal val="#ppt_x"/>
                                          </p:val>
                                        </p:tav>
                                      </p:tavLst>
                                    </p:anim>
                                    <p:anim calcmode="lin" valueType="num">
                                      <p:cBhvr>
                                        <p:cTn id="50" dur="600" fill="hold"/>
                                        <p:tgtEl>
                                          <p:spTgt spid="34"/>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35"/>
                                        </p:tgtEl>
                                        <p:attrNameLst>
                                          <p:attrName>style.visibility</p:attrName>
                                        </p:attrNameLst>
                                      </p:cBhvr>
                                      <p:to>
                                        <p:strVal val="visible"/>
                                      </p:to>
                                    </p:set>
                                    <p:animEffect transition="in" filter="fade">
                                      <p:cBhvr>
                                        <p:cTn id="53" dur="600" fill="hold"/>
                                        <p:tgtEl>
                                          <p:spTgt spid="35"/>
                                        </p:tgtEl>
                                      </p:cBhvr>
                                    </p:animEffect>
                                    <p:anim calcmode="lin" valueType="num">
                                      <p:cBhvr>
                                        <p:cTn id="54" dur="600" fill="hold"/>
                                        <p:tgtEl>
                                          <p:spTgt spid="35"/>
                                        </p:tgtEl>
                                        <p:attrNameLst>
                                          <p:attrName>ppt_x</p:attrName>
                                        </p:attrNameLst>
                                      </p:cBhvr>
                                      <p:tavLst>
                                        <p:tav tm="0">
                                          <p:val>
                                            <p:strVal val="#ppt_x"/>
                                          </p:val>
                                        </p:tav>
                                        <p:tav tm="100000">
                                          <p:val>
                                            <p:strVal val="#ppt_x"/>
                                          </p:val>
                                        </p:tav>
                                      </p:tavLst>
                                    </p:anim>
                                    <p:anim calcmode="lin" valueType="num">
                                      <p:cBhvr>
                                        <p:cTn id="55" dur="600" fill="hold"/>
                                        <p:tgtEl>
                                          <p:spTgt spid="35"/>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36"/>
                                        </p:tgtEl>
                                        <p:attrNameLst>
                                          <p:attrName>style.visibility</p:attrName>
                                        </p:attrNameLst>
                                      </p:cBhvr>
                                      <p:to>
                                        <p:strVal val="visible"/>
                                      </p:to>
                                    </p:set>
                                    <p:animEffect transition="in" filter="fade">
                                      <p:cBhvr>
                                        <p:cTn id="58" dur="600" fill="hold"/>
                                        <p:tgtEl>
                                          <p:spTgt spid="36"/>
                                        </p:tgtEl>
                                      </p:cBhvr>
                                    </p:animEffect>
                                    <p:anim calcmode="lin" valueType="num">
                                      <p:cBhvr>
                                        <p:cTn id="59" dur="600" fill="hold"/>
                                        <p:tgtEl>
                                          <p:spTgt spid="36"/>
                                        </p:tgtEl>
                                        <p:attrNameLst>
                                          <p:attrName>ppt_x</p:attrName>
                                        </p:attrNameLst>
                                      </p:cBhvr>
                                      <p:tavLst>
                                        <p:tav tm="0">
                                          <p:val>
                                            <p:strVal val="#ppt_x"/>
                                          </p:val>
                                        </p:tav>
                                        <p:tav tm="100000">
                                          <p:val>
                                            <p:strVal val="#ppt_x"/>
                                          </p:val>
                                        </p:tav>
                                      </p:tavLst>
                                    </p:anim>
                                    <p:anim calcmode="lin" valueType="num">
                                      <p:cBhvr>
                                        <p:cTn id="60" dur="600" fill="hold"/>
                                        <p:tgtEl>
                                          <p:spTgt spid="36"/>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37"/>
                                        </p:tgtEl>
                                        <p:attrNameLst>
                                          <p:attrName>style.visibility</p:attrName>
                                        </p:attrNameLst>
                                      </p:cBhvr>
                                      <p:to>
                                        <p:strVal val="visible"/>
                                      </p:to>
                                    </p:set>
                                    <p:animEffect transition="in" filter="fade">
                                      <p:cBhvr>
                                        <p:cTn id="63" dur="600" fill="hold"/>
                                        <p:tgtEl>
                                          <p:spTgt spid="37"/>
                                        </p:tgtEl>
                                      </p:cBhvr>
                                    </p:animEffect>
                                    <p:anim calcmode="lin" valueType="num">
                                      <p:cBhvr>
                                        <p:cTn id="64" dur="600" fill="hold"/>
                                        <p:tgtEl>
                                          <p:spTgt spid="37"/>
                                        </p:tgtEl>
                                        <p:attrNameLst>
                                          <p:attrName>ppt_x</p:attrName>
                                        </p:attrNameLst>
                                      </p:cBhvr>
                                      <p:tavLst>
                                        <p:tav tm="0">
                                          <p:val>
                                            <p:strVal val="#ppt_x"/>
                                          </p:val>
                                        </p:tav>
                                        <p:tav tm="100000">
                                          <p:val>
                                            <p:strVal val="#ppt_x"/>
                                          </p:val>
                                        </p:tav>
                                      </p:tavLst>
                                    </p:anim>
                                    <p:anim calcmode="lin" valueType="num">
                                      <p:cBhvr>
                                        <p:cTn id="65" dur="600" fill="hold"/>
                                        <p:tgtEl>
                                          <p:spTgt spid="37"/>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38"/>
                                        </p:tgtEl>
                                        <p:attrNameLst>
                                          <p:attrName>style.visibility</p:attrName>
                                        </p:attrNameLst>
                                      </p:cBhvr>
                                      <p:to>
                                        <p:strVal val="visible"/>
                                      </p:to>
                                    </p:set>
                                    <p:animEffect transition="in" filter="fade">
                                      <p:cBhvr>
                                        <p:cTn id="68" dur="600" fill="hold"/>
                                        <p:tgtEl>
                                          <p:spTgt spid="38"/>
                                        </p:tgtEl>
                                      </p:cBhvr>
                                    </p:animEffect>
                                    <p:anim calcmode="lin" valueType="num">
                                      <p:cBhvr>
                                        <p:cTn id="69" dur="600" fill="hold"/>
                                        <p:tgtEl>
                                          <p:spTgt spid="38"/>
                                        </p:tgtEl>
                                        <p:attrNameLst>
                                          <p:attrName>ppt_x</p:attrName>
                                        </p:attrNameLst>
                                      </p:cBhvr>
                                      <p:tavLst>
                                        <p:tav tm="0">
                                          <p:val>
                                            <p:strVal val="#ppt_x"/>
                                          </p:val>
                                        </p:tav>
                                        <p:tav tm="100000">
                                          <p:val>
                                            <p:strVal val="#ppt_x"/>
                                          </p:val>
                                        </p:tav>
                                      </p:tavLst>
                                    </p:anim>
                                    <p:anim calcmode="lin" valueType="num">
                                      <p:cBhvr>
                                        <p:cTn id="70" dur="600" fill="hold"/>
                                        <p:tgtEl>
                                          <p:spTgt spid="38"/>
                                        </p:tgtEl>
                                        <p:attrNameLst>
                                          <p:attrName>ppt_y</p:attrName>
                                        </p:attrNameLst>
                                      </p:cBhvr>
                                      <p:tavLst>
                                        <p:tav tm="0">
                                          <p:val>
                                            <p:strVal val="#ppt_y+.1"/>
                                          </p:val>
                                        </p:tav>
                                        <p:tav tm="100000">
                                          <p:val>
                                            <p:strVal val="#ppt_y"/>
                                          </p:val>
                                        </p:tav>
                                      </p:tavLst>
                                    </p:anim>
                                  </p:childTnLst>
                                </p:cTn>
                              </p:par>
                            </p:childTnLst>
                          </p:cTn>
                        </p:par>
                        <p:par>
                          <p:cTn id="71" fill="hold">
                            <p:stCondLst>
                              <p:cond delay="600"/>
                            </p:stCondLst>
                            <p:childTnLst>
                              <p:par>
                                <p:cTn id="72" presetID="22" presetClass="entr" presetSubtype="8" fill="hold" grpId="0" nodeType="afterEffect">
                                  <p:stCondLst>
                                    <p:cond delay="0"/>
                                  </p:stCondLst>
                                  <p:childTnLst>
                                    <p:set>
                                      <p:cBhvr>
                                        <p:cTn id="73" dur="1" fill="hold">
                                          <p:stCondLst>
                                            <p:cond delay="0"/>
                                          </p:stCondLst>
                                        </p:cTn>
                                        <p:tgtEl>
                                          <p:spTgt spid="39"/>
                                        </p:tgtEl>
                                        <p:attrNameLst>
                                          <p:attrName>style.visibility</p:attrName>
                                        </p:attrNameLst>
                                      </p:cBhvr>
                                      <p:to>
                                        <p:strVal val="visible"/>
                                      </p:to>
                                    </p:set>
                                    <p:animEffect transition="in" filter="wipe(left)">
                                      <p:cBhvr>
                                        <p:cTn id="74" dur="400" fill="hold"/>
                                        <p:tgtEl>
                                          <p:spTgt spid="39"/>
                                        </p:tgtEl>
                                      </p:cBhvr>
                                    </p:animEffect>
                                  </p:childTnLst>
                                </p:cTn>
                              </p:par>
                            </p:childTnLst>
                          </p:cTn>
                        </p:par>
                      </p:childTnLst>
                    </p:cTn>
                  </p:par>
                  <p:par>
                    <p:cTn id="75" fill="hold">
                      <p:stCondLst>
                        <p:cond delay="indefinite"/>
                      </p:stCondLst>
                      <p:childTnLst>
                        <p:par>
                          <p:cTn id="76" fill="hold">
                            <p:stCondLst>
                              <p:cond delay="0"/>
                            </p:stCondLst>
                            <p:childTnLst>
                              <p:par>
                                <p:cTn id="77" presetID="42" presetClass="entr" presetSubtype="0" fill="hold" grpId="0" nodeType="clickEffect">
                                  <p:stCondLst>
                                    <p:cond delay="0"/>
                                  </p:stCondLst>
                                  <p:childTnLst>
                                    <p:set>
                                      <p:cBhvr>
                                        <p:cTn id="78" dur="1" fill="hold">
                                          <p:stCondLst>
                                            <p:cond delay="0"/>
                                          </p:stCondLst>
                                        </p:cTn>
                                        <p:tgtEl>
                                          <p:spTgt spid="40"/>
                                        </p:tgtEl>
                                        <p:attrNameLst>
                                          <p:attrName>style.visibility</p:attrName>
                                        </p:attrNameLst>
                                      </p:cBhvr>
                                      <p:to>
                                        <p:strVal val="visible"/>
                                      </p:to>
                                    </p:set>
                                    <p:animEffect transition="in" filter="fade">
                                      <p:cBhvr>
                                        <p:cTn id="79" dur="600" fill="hold"/>
                                        <p:tgtEl>
                                          <p:spTgt spid="40"/>
                                        </p:tgtEl>
                                      </p:cBhvr>
                                    </p:animEffect>
                                    <p:anim calcmode="lin" valueType="num">
                                      <p:cBhvr>
                                        <p:cTn id="80" dur="600" fill="hold"/>
                                        <p:tgtEl>
                                          <p:spTgt spid="40"/>
                                        </p:tgtEl>
                                        <p:attrNameLst>
                                          <p:attrName>ppt_x</p:attrName>
                                        </p:attrNameLst>
                                      </p:cBhvr>
                                      <p:tavLst>
                                        <p:tav tm="0">
                                          <p:val>
                                            <p:strVal val="#ppt_x"/>
                                          </p:val>
                                        </p:tav>
                                        <p:tav tm="100000">
                                          <p:val>
                                            <p:strVal val="#ppt_x"/>
                                          </p:val>
                                        </p:tav>
                                      </p:tavLst>
                                    </p:anim>
                                    <p:anim calcmode="lin" valueType="num">
                                      <p:cBhvr>
                                        <p:cTn id="81" dur="600" fill="hold"/>
                                        <p:tgtEl>
                                          <p:spTgt spid="40"/>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41"/>
                                        </p:tgtEl>
                                        <p:attrNameLst>
                                          <p:attrName>style.visibility</p:attrName>
                                        </p:attrNameLst>
                                      </p:cBhvr>
                                      <p:to>
                                        <p:strVal val="visible"/>
                                      </p:to>
                                    </p:set>
                                    <p:animEffect transition="in" filter="fade">
                                      <p:cBhvr>
                                        <p:cTn id="84" dur="600" fill="hold"/>
                                        <p:tgtEl>
                                          <p:spTgt spid="41"/>
                                        </p:tgtEl>
                                      </p:cBhvr>
                                    </p:animEffect>
                                    <p:anim calcmode="lin" valueType="num">
                                      <p:cBhvr>
                                        <p:cTn id="85" dur="600" fill="hold"/>
                                        <p:tgtEl>
                                          <p:spTgt spid="41"/>
                                        </p:tgtEl>
                                        <p:attrNameLst>
                                          <p:attrName>ppt_x</p:attrName>
                                        </p:attrNameLst>
                                      </p:cBhvr>
                                      <p:tavLst>
                                        <p:tav tm="0">
                                          <p:val>
                                            <p:strVal val="#ppt_x"/>
                                          </p:val>
                                        </p:tav>
                                        <p:tav tm="100000">
                                          <p:val>
                                            <p:strVal val="#ppt_x"/>
                                          </p:val>
                                        </p:tav>
                                      </p:tavLst>
                                    </p:anim>
                                    <p:anim calcmode="lin" valueType="num">
                                      <p:cBhvr>
                                        <p:cTn id="86" dur="600" fill="hold"/>
                                        <p:tgtEl>
                                          <p:spTgt spid="41"/>
                                        </p:tgtEl>
                                        <p:attrNameLst>
                                          <p:attrName>ppt_y</p:attrName>
                                        </p:attrNameLst>
                                      </p:cBhvr>
                                      <p:tavLst>
                                        <p:tav tm="0">
                                          <p:val>
                                            <p:strVal val="#ppt_y+.1"/>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42"/>
                                        </p:tgtEl>
                                        <p:attrNameLst>
                                          <p:attrName>style.visibility</p:attrName>
                                        </p:attrNameLst>
                                      </p:cBhvr>
                                      <p:to>
                                        <p:strVal val="visible"/>
                                      </p:to>
                                    </p:set>
                                    <p:animEffect transition="in" filter="fade">
                                      <p:cBhvr>
                                        <p:cTn id="89" dur="600" fill="hold"/>
                                        <p:tgtEl>
                                          <p:spTgt spid="42"/>
                                        </p:tgtEl>
                                      </p:cBhvr>
                                    </p:animEffect>
                                    <p:anim calcmode="lin" valueType="num">
                                      <p:cBhvr>
                                        <p:cTn id="90" dur="600" fill="hold"/>
                                        <p:tgtEl>
                                          <p:spTgt spid="42"/>
                                        </p:tgtEl>
                                        <p:attrNameLst>
                                          <p:attrName>ppt_x</p:attrName>
                                        </p:attrNameLst>
                                      </p:cBhvr>
                                      <p:tavLst>
                                        <p:tav tm="0">
                                          <p:val>
                                            <p:strVal val="#ppt_x"/>
                                          </p:val>
                                        </p:tav>
                                        <p:tav tm="100000">
                                          <p:val>
                                            <p:strVal val="#ppt_x"/>
                                          </p:val>
                                        </p:tav>
                                      </p:tavLst>
                                    </p:anim>
                                    <p:anim calcmode="lin" valueType="num">
                                      <p:cBhvr>
                                        <p:cTn id="91" dur="600" fill="hold"/>
                                        <p:tgtEl>
                                          <p:spTgt spid="42"/>
                                        </p:tgtEl>
                                        <p:attrNameLst>
                                          <p:attrName>ppt_y</p:attrName>
                                        </p:attrNameLst>
                                      </p:cBhvr>
                                      <p:tavLst>
                                        <p:tav tm="0">
                                          <p:val>
                                            <p:strVal val="#ppt_y+.1"/>
                                          </p:val>
                                        </p:tav>
                                        <p:tav tm="100000">
                                          <p:val>
                                            <p:strVal val="#ppt_y"/>
                                          </p:val>
                                        </p:tav>
                                      </p:tavLst>
                                    </p:anim>
                                  </p:childTnLst>
                                </p:cTn>
                              </p:par>
                              <p:par>
                                <p:cTn id="92" presetID="42" presetClass="entr" presetSubtype="0" fill="hold" grpId="0" nodeType="withEffect">
                                  <p:stCondLst>
                                    <p:cond delay="0"/>
                                  </p:stCondLst>
                                  <p:childTnLst>
                                    <p:set>
                                      <p:cBhvr>
                                        <p:cTn id="93" dur="1" fill="hold">
                                          <p:stCondLst>
                                            <p:cond delay="0"/>
                                          </p:stCondLst>
                                        </p:cTn>
                                        <p:tgtEl>
                                          <p:spTgt spid="43"/>
                                        </p:tgtEl>
                                        <p:attrNameLst>
                                          <p:attrName>style.visibility</p:attrName>
                                        </p:attrNameLst>
                                      </p:cBhvr>
                                      <p:to>
                                        <p:strVal val="visible"/>
                                      </p:to>
                                    </p:set>
                                    <p:animEffect transition="in" filter="fade">
                                      <p:cBhvr>
                                        <p:cTn id="94" dur="600" fill="hold"/>
                                        <p:tgtEl>
                                          <p:spTgt spid="43"/>
                                        </p:tgtEl>
                                      </p:cBhvr>
                                    </p:animEffect>
                                    <p:anim calcmode="lin" valueType="num">
                                      <p:cBhvr>
                                        <p:cTn id="95" dur="600" fill="hold"/>
                                        <p:tgtEl>
                                          <p:spTgt spid="43"/>
                                        </p:tgtEl>
                                        <p:attrNameLst>
                                          <p:attrName>ppt_x</p:attrName>
                                        </p:attrNameLst>
                                      </p:cBhvr>
                                      <p:tavLst>
                                        <p:tav tm="0">
                                          <p:val>
                                            <p:strVal val="#ppt_x"/>
                                          </p:val>
                                        </p:tav>
                                        <p:tav tm="100000">
                                          <p:val>
                                            <p:strVal val="#ppt_x"/>
                                          </p:val>
                                        </p:tav>
                                      </p:tavLst>
                                    </p:anim>
                                    <p:anim calcmode="lin" valueType="num">
                                      <p:cBhvr>
                                        <p:cTn id="96" dur="600" fill="hold"/>
                                        <p:tgtEl>
                                          <p:spTgt spid="43"/>
                                        </p:tgtEl>
                                        <p:attrNameLst>
                                          <p:attrName>ppt_y</p:attrName>
                                        </p:attrNameLst>
                                      </p:cBhvr>
                                      <p:tavLst>
                                        <p:tav tm="0">
                                          <p:val>
                                            <p:strVal val="#ppt_y+.1"/>
                                          </p:val>
                                        </p:tav>
                                        <p:tav tm="100000">
                                          <p:val>
                                            <p:strVal val="#ppt_y"/>
                                          </p:val>
                                        </p:tav>
                                      </p:tavLst>
                                    </p:anim>
                                  </p:childTnLst>
                                </p:cTn>
                              </p:par>
                              <p:par>
                                <p:cTn id="97" presetID="42" presetClass="entr" presetSubtype="0" fill="hold" grpId="0" nodeType="withEffect">
                                  <p:stCondLst>
                                    <p:cond delay="0"/>
                                  </p:stCondLst>
                                  <p:childTnLst>
                                    <p:set>
                                      <p:cBhvr>
                                        <p:cTn id="98" dur="1" fill="hold">
                                          <p:stCondLst>
                                            <p:cond delay="0"/>
                                          </p:stCondLst>
                                        </p:cTn>
                                        <p:tgtEl>
                                          <p:spTgt spid="44"/>
                                        </p:tgtEl>
                                        <p:attrNameLst>
                                          <p:attrName>style.visibility</p:attrName>
                                        </p:attrNameLst>
                                      </p:cBhvr>
                                      <p:to>
                                        <p:strVal val="visible"/>
                                      </p:to>
                                    </p:set>
                                    <p:animEffect transition="in" filter="fade">
                                      <p:cBhvr>
                                        <p:cTn id="99" dur="600" fill="hold"/>
                                        <p:tgtEl>
                                          <p:spTgt spid="44"/>
                                        </p:tgtEl>
                                      </p:cBhvr>
                                    </p:animEffect>
                                    <p:anim calcmode="lin" valueType="num">
                                      <p:cBhvr>
                                        <p:cTn id="100" dur="600" fill="hold"/>
                                        <p:tgtEl>
                                          <p:spTgt spid="44"/>
                                        </p:tgtEl>
                                        <p:attrNameLst>
                                          <p:attrName>ppt_x</p:attrName>
                                        </p:attrNameLst>
                                      </p:cBhvr>
                                      <p:tavLst>
                                        <p:tav tm="0">
                                          <p:val>
                                            <p:strVal val="#ppt_x"/>
                                          </p:val>
                                        </p:tav>
                                        <p:tav tm="100000">
                                          <p:val>
                                            <p:strVal val="#ppt_x"/>
                                          </p:val>
                                        </p:tav>
                                      </p:tavLst>
                                    </p:anim>
                                    <p:anim calcmode="lin" valueType="num">
                                      <p:cBhvr>
                                        <p:cTn id="101" dur="600" fill="hold"/>
                                        <p:tgtEl>
                                          <p:spTgt spid="44"/>
                                        </p:tgtEl>
                                        <p:attrNameLst>
                                          <p:attrName>ppt_y</p:attrName>
                                        </p:attrNameLst>
                                      </p:cBhvr>
                                      <p:tavLst>
                                        <p:tav tm="0">
                                          <p:val>
                                            <p:strVal val="#ppt_y+.1"/>
                                          </p:val>
                                        </p:tav>
                                        <p:tav tm="100000">
                                          <p:val>
                                            <p:strVal val="#ppt_y"/>
                                          </p:val>
                                        </p:tav>
                                      </p:tavLst>
                                    </p:anim>
                                  </p:childTnLst>
                                </p:cTn>
                              </p:par>
                              <p:par>
                                <p:cTn id="102" presetID="42" presetClass="entr" presetSubtype="0" fill="hold" grpId="0" nodeType="withEffect">
                                  <p:stCondLst>
                                    <p:cond delay="0"/>
                                  </p:stCondLst>
                                  <p:childTnLst>
                                    <p:set>
                                      <p:cBhvr>
                                        <p:cTn id="103" dur="1" fill="hold">
                                          <p:stCondLst>
                                            <p:cond delay="0"/>
                                          </p:stCondLst>
                                        </p:cTn>
                                        <p:tgtEl>
                                          <p:spTgt spid="45"/>
                                        </p:tgtEl>
                                        <p:attrNameLst>
                                          <p:attrName>style.visibility</p:attrName>
                                        </p:attrNameLst>
                                      </p:cBhvr>
                                      <p:to>
                                        <p:strVal val="visible"/>
                                      </p:to>
                                    </p:set>
                                    <p:animEffect transition="in" filter="fade">
                                      <p:cBhvr>
                                        <p:cTn id="104" dur="600" fill="hold"/>
                                        <p:tgtEl>
                                          <p:spTgt spid="45"/>
                                        </p:tgtEl>
                                      </p:cBhvr>
                                    </p:animEffect>
                                    <p:anim calcmode="lin" valueType="num">
                                      <p:cBhvr>
                                        <p:cTn id="105" dur="600" fill="hold"/>
                                        <p:tgtEl>
                                          <p:spTgt spid="45"/>
                                        </p:tgtEl>
                                        <p:attrNameLst>
                                          <p:attrName>ppt_x</p:attrName>
                                        </p:attrNameLst>
                                      </p:cBhvr>
                                      <p:tavLst>
                                        <p:tav tm="0">
                                          <p:val>
                                            <p:strVal val="#ppt_x"/>
                                          </p:val>
                                        </p:tav>
                                        <p:tav tm="100000">
                                          <p:val>
                                            <p:strVal val="#ppt_x"/>
                                          </p:val>
                                        </p:tav>
                                      </p:tavLst>
                                    </p:anim>
                                    <p:anim calcmode="lin" valueType="num">
                                      <p:cBhvr>
                                        <p:cTn id="106" dur="600" fill="hold"/>
                                        <p:tgtEl>
                                          <p:spTgt spid="45"/>
                                        </p:tgtEl>
                                        <p:attrNameLst>
                                          <p:attrName>ppt_y</p:attrName>
                                        </p:attrNameLst>
                                      </p:cBhvr>
                                      <p:tavLst>
                                        <p:tav tm="0">
                                          <p:val>
                                            <p:strVal val="#ppt_y+.1"/>
                                          </p:val>
                                        </p:tav>
                                        <p:tav tm="100000">
                                          <p:val>
                                            <p:strVal val="#ppt_y"/>
                                          </p:val>
                                        </p:tav>
                                      </p:tavLst>
                                    </p:anim>
                                  </p:childTnLst>
                                </p:cTn>
                              </p:par>
                            </p:childTnLst>
                          </p:cTn>
                        </p:par>
                      </p:childTnLst>
                    </p:cTn>
                  </p:par>
                  <p:par>
                    <p:cTn id="107" fill="hold">
                      <p:stCondLst>
                        <p:cond delay="indefinite"/>
                      </p:stCondLst>
                      <p:childTnLst>
                        <p:par>
                          <p:cTn id="108" fill="hold">
                            <p:stCondLst>
                              <p:cond delay="0"/>
                            </p:stCondLst>
                            <p:childTnLst>
                              <p:par>
                                <p:cTn id="109" presetID="42" presetClass="entr" presetSubtype="0" fill="hold" grpId="0" nodeType="clickEffect">
                                  <p:stCondLst>
                                    <p:cond delay="0"/>
                                  </p:stCondLst>
                                  <p:childTnLst>
                                    <p:set>
                                      <p:cBhvr>
                                        <p:cTn id="110" dur="1" fill="hold">
                                          <p:stCondLst>
                                            <p:cond delay="0"/>
                                          </p:stCondLst>
                                        </p:cTn>
                                        <p:tgtEl>
                                          <p:spTgt spid="46"/>
                                        </p:tgtEl>
                                        <p:attrNameLst>
                                          <p:attrName>style.visibility</p:attrName>
                                        </p:attrNameLst>
                                      </p:cBhvr>
                                      <p:to>
                                        <p:strVal val="visible"/>
                                      </p:to>
                                    </p:set>
                                    <p:animEffect transition="in" filter="fade">
                                      <p:cBhvr>
                                        <p:cTn id="111" dur="600" fill="hold"/>
                                        <p:tgtEl>
                                          <p:spTgt spid="46"/>
                                        </p:tgtEl>
                                      </p:cBhvr>
                                    </p:animEffect>
                                    <p:anim calcmode="lin" valueType="num">
                                      <p:cBhvr>
                                        <p:cTn id="112" dur="600" fill="hold"/>
                                        <p:tgtEl>
                                          <p:spTgt spid="46"/>
                                        </p:tgtEl>
                                        <p:attrNameLst>
                                          <p:attrName>ppt_x</p:attrName>
                                        </p:attrNameLst>
                                      </p:cBhvr>
                                      <p:tavLst>
                                        <p:tav tm="0">
                                          <p:val>
                                            <p:strVal val="#ppt_x"/>
                                          </p:val>
                                        </p:tav>
                                        <p:tav tm="100000">
                                          <p:val>
                                            <p:strVal val="#ppt_x"/>
                                          </p:val>
                                        </p:tav>
                                      </p:tavLst>
                                    </p:anim>
                                    <p:anim calcmode="lin" valueType="num">
                                      <p:cBhvr>
                                        <p:cTn id="113" dur="600" fill="hold"/>
                                        <p:tgtEl>
                                          <p:spTgt spid="46"/>
                                        </p:tgtEl>
                                        <p:attrNameLst>
                                          <p:attrName>ppt_y</p:attrName>
                                        </p:attrNameLst>
                                      </p:cBhvr>
                                      <p:tavLst>
                                        <p:tav tm="0">
                                          <p:val>
                                            <p:strVal val="#ppt_y+.1"/>
                                          </p:val>
                                        </p:tav>
                                        <p:tav tm="100000">
                                          <p:val>
                                            <p:strVal val="#ppt_y"/>
                                          </p:val>
                                        </p:tav>
                                      </p:tavLst>
                                    </p:anim>
                                  </p:childTnLst>
                                </p:cTn>
                              </p:par>
                              <p:par>
                                <p:cTn id="114" presetID="42" presetClass="entr" presetSubtype="0" fill="hold" grpId="0" nodeType="withEffect">
                                  <p:stCondLst>
                                    <p:cond delay="0"/>
                                  </p:stCondLst>
                                  <p:childTnLst>
                                    <p:set>
                                      <p:cBhvr>
                                        <p:cTn id="115" dur="1" fill="hold">
                                          <p:stCondLst>
                                            <p:cond delay="0"/>
                                          </p:stCondLst>
                                        </p:cTn>
                                        <p:tgtEl>
                                          <p:spTgt spid="47"/>
                                        </p:tgtEl>
                                        <p:attrNameLst>
                                          <p:attrName>style.visibility</p:attrName>
                                        </p:attrNameLst>
                                      </p:cBhvr>
                                      <p:to>
                                        <p:strVal val="visible"/>
                                      </p:to>
                                    </p:set>
                                    <p:animEffect transition="in" filter="fade">
                                      <p:cBhvr>
                                        <p:cTn id="116" dur="600" fill="hold"/>
                                        <p:tgtEl>
                                          <p:spTgt spid="47"/>
                                        </p:tgtEl>
                                      </p:cBhvr>
                                    </p:animEffect>
                                    <p:anim calcmode="lin" valueType="num">
                                      <p:cBhvr>
                                        <p:cTn id="117" dur="600" fill="hold"/>
                                        <p:tgtEl>
                                          <p:spTgt spid="47"/>
                                        </p:tgtEl>
                                        <p:attrNameLst>
                                          <p:attrName>ppt_x</p:attrName>
                                        </p:attrNameLst>
                                      </p:cBhvr>
                                      <p:tavLst>
                                        <p:tav tm="0">
                                          <p:val>
                                            <p:strVal val="#ppt_x"/>
                                          </p:val>
                                        </p:tav>
                                        <p:tav tm="100000">
                                          <p:val>
                                            <p:strVal val="#ppt_x"/>
                                          </p:val>
                                        </p:tav>
                                      </p:tavLst>
                                    </p:anim>
                                    <p:anim calcmode="lin" valueType="num">
                                      <p:cBhvr>
                                        <p:cTn id="118" dur="600" fill="hold"/>
                                        <p:tgtEl>
                                          <p:spTgt spid="47"/>
                                        </p:tgtEl>
                                        <p:attrNameLst>
                                          <p:attrName>ppt_y</p:attrName>
                                        </p:attrNameLst>
                                      </p:cBhvr>
                                      <p:tavLst>
                                        <p:tav tm="0">
                                          <p:val>
                                            <p:strVal val="#ppt_y+.1"/>
                                          </p:val>
                                        </p:tav>
                                        <p:tav tm="100000">
                                          <p:val>
                                            <p:strVal val="#ppt_y"/>
                                          </p:val>
                                        </p:tav>
                                      </p:tavLst>
                                    </p:anim>
                                  </p:childTnLst>
                                </p:cTn>
                              </p:par>
                              <p:par>
                                <p:cTn id="119" presetID="42" presetClass="entr" presetSubtype="0" fill="hold" grpId="0" nodeType="withEffect">
                                  <p:stCondLst>
                                    <p:cond delay="0"/>
                                  </p:stCondLst>
                                  <p:childTnLst>
                                    <p:set>
                                      <p:cBhvr>
                                        <p:cTn id="120" dur="1" fill="hold">
                                          <p:stCondLst>
                                            <p:cond delay="0"/>
                                          </p:stCondLst>
                                        </p:cTn>
                                        <p:tgtEl>
                                          <p:spTgt spid="48"/>
                                        </p:tgtEl>
                                        <p:attrNameLst>
                                          <p:attrName>style.visibility</p:attrName>
                                        </p:attrNameLst>
                                      </p:cBhvr>
                                      <p:to>
                                        <p:strVal val="visible"/>
                                      </p:to>
                                    </p:set>
                                    <p:animEffect transition="in" filter="fade">
                                      <p:cBhvr>
                                        <p:cTn id="121" dur="600" fill="hold"/>
                                        <p:tgtEl>
                                          <p:spTgt spid="48"/>
                                        </p:tgtEl>
                                      </p:cBhvr>
                                    </p:animEffect>
                                    <p:anim calcmode="lin" valueType="num">
                                      <p:cBhvr>
                                        <p:cTn id="122" dur="600" fill="hold"/>
                                        <p:tgtEl>
                                          <p:spTgt spid="48"/>
                                        </p:tgtEl>
                                        <p:attrNameLst>
                                          <p:attrName>ppt_x</p:attrName>
                                        </p:attrNameLst>
                                      </p:cBhvr>
                                      <p:tavLst>
                                        <p:tav tm="0">
                                          <p:val>
                                            <p:strVal val="#ppt_x"/>
                                          </p:val>
                                        </p:tav>
                                        <p:tav tm="100000">
                                          <p:val>
                                            <p:strVal val="#ppt_x"/>
                                          </p:val>
                                        </p:tav>
                                      </p:tavLst>
                                    </p:anim>
                                    <p:anim calcmode="lin" valueType="num">
                                      <p:cBhvr>
                                        <p:cTn id="123" dur="600" fill="hold"/>
                                        <p:tgtEl>
                                          <p:spTgt spid="4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9" grpId="0" animBg="1"/>
      <p:bldP spid="30" grpId="0" animBg="1"/>
      <p:bldP spid="31" grpId="0" animBg="1"/>
      <p:bldP spid="32" grpId="0" animBg="1"/>
      <p:bldP spid="33" grpId="0" animBg="1"/>
      <p:bldP spid="34" grpId="0" animBg="1"/>
      <p:bldP spid="36" grpId="0" animBg="1"/>
      <p:bldP spid="37" grpId="0" animBg="1"/>
      <p:bldP spid="38" grpId="0" animBg="1"/>
      <p:bldP spid="39" grpId="0" animBg="1"/>
      <p:bldP spid="40" grpId="0" animBg="1"/>
      <p:bldP spid="41" grpId="0" animBg="1"/>
      <p:bldP spid="43" grpId="0" animBg="1"/>
      <p:bldP spid="44" grpId="0" animBg="1"/>
      <p:bldP spid="45" grpId="0" animBg="1"/>
      <p:bldP spid="46" grpId="0" animBg="1"/>
      <p:bldP spid="48" grpId="0" animBg="1"/>
    </p:bldLst>
  </p:timing>
</p:sld>
</file>

<file path=ppt/theme/theme1.xml><?xml version="1.0" encoding="utf-8"?>
<a:theme xmlns:a="http://schemas.openxmlformats.org/drawingml/2006/main" name="WF Meta">
  <a:themeElements>
    <a:clrScheme name="WF Meta">
      <a:dk1>
        <a:srgbClr val="1F1F1F"/>
      </a:dk1>
      <a:lt1>
        <a:srgbClr val="FFFFFF"/>
      </a:lt1>
      <a:dk2>
        <a:srgbClr val="8E1520"/>
      </a:dk2>
      <a:lt2>
        <a:srgbClr val="F3F3F2"/>
      </a:lt2>
      <a:accent1>
        <a:srgbClr val="CD1F2C"/>
      </a:accent1>
      <a:accent2>
        <a:srgbClr val="FFC72C"/>
      </a:accent2>
      <a:accent3>
        <a:srgbClr val="5A5A5A"/>
      </a:accent3>
      <a:accent4>
        <a:srgbClr val="B3141F"/>
      </a:accent4>
      <a:accent5>
        <a:srgbClr val="9A9A9A"/>
      </a:accent5>
      <a:accent6>
        <a:srgbClr val="E0A800"/>
      </a:accent6>
      <a:hlink>
        <a:srgbClr val="CD1F2C"/>
      </a:hlink>
      <a:folHlink>
        <a:srgbClr val="8E1520"/>
      </a:folHlink>
    </a:clrScheme>
    <a:fontScheme name="WF Meta">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313</Words>
  <Application>Microsoft Office PowerPoint</Application>
  <PresentationFormat>Widescreen</PresentationFormat>
  <Paragraphs>22</Paragraphs>
  <Slides>3</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IBM Plex Sans</vt:lpstr>
      <vt:lpstr>WF Meta</vt:lpstr>
      <vt:lpstr>WF Meta</vt:lpstr>
      <vt:lpstr>How it works: glasses, phone, Jetson</vt:lpstr>
      <vt:lpstr>Demo</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WF Meta: hands-free RM assistant</dc:title>
  <dc:subject>PptxGenJS Presentation</dc:subject>
  <dc:creator>PptxGenJS</dc:creator>
  <cp:lastModifiedBy>Kundanika Reddy Bommineni</cp:lastModifiedBy>
  <cp:revision>2</cp:revision>
  <dcterms:created xsi:type="dcterms:W3CDTF">2026-10-13T17:17:48Z</dcterms:created>
  <dcterms:modified xsi:type="dcterms:W3CDTF">2026-10-14T12:26:42Z</dcterms:modified>
</cp:coreProperties>
</file>